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575a33cb34423e" /><Relationship Type="http://schemas.openxmlformats.org/officeDocument/2006/relationships/extended-properties" Target="/docProps/app.xml" Id="R70512d1e28eb463b" /><Relationship Type="http://schemas.openxmlformats.org/officeDocument/2006/relationships/officeDocument" Target="/ppt/presentation.xml" Id="R606ffa4f41944f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444e24c6c0449f"/>
  </p:sldMasterIdLst>
  <p:notesMasterIdLst>
    <p:notesMasterId xmlns:r="http://schemas.openxmlformats.org/officeDocument/2006/relationships" r:id="R59feb30a49064ec4"/>
  </p:notesMasterIdLst>
  <p:sldIdLst>
    <p:sldId xmlns:r="http://schemas.openxmlformats.org/officeDocument/2006/relationships" id="256" r:id="Rca969e60d7fd4e65"/>
    <p:sldId xmlns:r="http://schemas.openxmlformats.org/officeDocument/2006/relationships" id="257" r:id="Rf521e478d59348b5"/>
    <p:sldId xmlns:r="http://schemas.openxmlformats.org/officeDocument/2006/relationships" id="258" r:id="R87b6eaad584e4ba8"/>
    <p:sldId xmlns:r="http://schemas.openxmlformats.org/officeDocument/2006/relationships" id="259" r:id="R7d86ef1b9ab9439e"/>
    <p:sldId xmlns:r="http://schemas.openxmlformats.org/officeDocument/2006/relationships" id="260" r:id="Ree0d20f9dee54e2a"/>
    <p:sldId xmlns:r="http://schemas.openxmlformats.org/officeDocument/2006/relationships" id="261" r:id="R8fb0ac0057154ca7"/>
    <p:sldId xmlns:r="http://schemas.openxmlformats.org/officeDocument/2006/relationships" id="262" r:id="R5372e6092cef4d83"/>
    <p:sldId xmlns:r="http://schemas.openxmlformats.org/officeDocument/2006/relationships" id="263" r:id="R020767f7eb6e47d1"/>
    <p:sldId xmlns:r="http://schemas.openxmlformats.org/officeDocument/2006/relationships" id="264" r:id="R6d69829acc05448d"/>
    <p:sldId xmlns:r="http://schemas.openxmlformats.org/officeDocument/2006/relationships" id="265" r:id="Recb7ece49c18408c"/>
    <p:sldId xmlns:r="http://schemas.openxmlformats.org/officeDocument/2006/relationships" id="266" r:id="R37f4210967884a43"/>
    <p:sldId xmlns:r="http://schemas.openxmlformats.org/officeDocument/2006/relationships" id="267" r:id="R23c45fdcd511458f"/>
    <p:sldId xmlns:r="http://schemas.openxmlformats.org/officeDocument/2006/relationships" id="268" r:id="Rf6429e5f39be456f"/>
    <p:sldId xmlns:r="http://schemas.openxmlformats.org/officeDocument/2006/relationships" id="269" r:id="Rb3eef06b005645a5"/>
    <p:sldId xmlns:r="http://schemas.openxmlformats.org/officeDocument/2006/relationships" id="270" r:id="R35eac44646444a96"/>
    <p:sldId xmlns:r="http://schemas.openxmlformats.org/officeDocument/2006/relationships" id="271" r:id="Raa48ee38aee64cbb"/>
    <p:sldId xmlns:r="http://schemas.openxmlformats.org/officeDocument/2006/relationships" id="272" r:id="Re6998acfb9c044d7"/>
    <p:sldId xmlns:r="http://schemas.openxmlformats.org/officeDocument/2006/relationships" id="273" r:id="R0af5b49aaee24a6a"/>
    <p:sldId xmlns:r="http://schemas.openxmlformats.org/officeDocument/2006/relationships" id="274" r:id="R45807e52c70141e1"/>
    <p:sldId xmlns:r="http://schemas.openxmlformats.org/officeDocument/2006/relationships" id="275" r:id="Rb920add782434965"/>
    <p:sldId xmlns:r="http://schemas.openxmlformats.org/officeDocument/2006/relationships" id="276" r:id="Rab54276c522c42d5"/>
    <p:sldId xmlns:r="http://schemas.openxmlformats.org/officeDocument/2006/relationships" id="277" r:id="R405a6abb1c494e5f"/>
    <p:sldId xmlns:r="http://schemas.openxmlformats.org/officeDocument/2006/relationships" id="278" r:id="Raa8ef23b89184233"/>
    <p:sldId xmlns:r="http://schemas.openxmlformats.org/officeDocument/2006/relationships" id="279" r:id="R357712be69c046ad"/>
    <p:sldId xmlns:r="http://schemas.openxmlformats.org/officeDocument/2006/relationships" id="280" r:id="Re1314f19ee7e4828"/>
    <p:sldId xmlns:r="http://schemas.openxmlformats.org/officeDocument/2006/relationships" id="281" r:id="R8d49741c23044b15"/>
    <p:sldId xmlns:r="http://schemas.openxmlformats.org/officeDocument/2006/relationships" id="282" r:id="R34a05d3e5d0641b7"/>
    <p:sldId xmlns:r="http://schemas.openxmlformats.org/officeDocument/2006/relationships" id="283" r:id="R1e5d9961ec844fac"/>
    <p:sldId xmlns:r="http://schemas.openxmlformats.org/officeDocument/2006/relationships" id="284" r:id="Ra80dfcffeeb04747"/>
    <p:sldId xmlns:r="http://schemas.openxmlformats.org/officeDocument/2006/relationships" id="285" r:id="R6a3d5b4a8a904d99"/>
    <p:sldId xmlns:r="http://schemas.openxmlformats.org/officeDocument/2006/relationships" id="286" r:id="R97b5084474424e9d"/>
    <p:sldId xmlns:r="http://schemas.openxmlformats.org/officeDocument/2006/relationships" id="287" r:id="R2644d10a052144c8"/>
    <p:sldId xmlns:r="http://schemas.openxmlformats.org/officeDocument/2006/relationships" id="288" r:id="R34cab6a736bd45fa"/>
    <p:sldId xmlns:r="http://schemas.openxmlformats.org/officeDocument/2006/relationships" id="289" r:id="Rd96f74da93344252"/>
    <p:sldId xmlns:r="http://schemas.openxmlformats.org/officeDocument/2006/relationships" id="290" r:id="R0f4b48bf549d4dae"/>
    <p:sldId xmlns:r="http://schemas.openxmlformats.org/officeDocument/2006/relationships" id="291" r:id="R4d56dc17068f4c72"/>
    <p:sldId xmlns:r="http://schemas.openxmlformats.org/officeDocument/2006/relationships" id="292" r:id="R9eef13b241074ad8"/>
    <p:sldId xmlns:r="http://schemas.openxmlformats.org/officeDocument/2006/relationships" id="293" r:id="R1621e1a46a8f4381"/>
    <p:sldId xmlns:r="http://schemas.openxmlformats.org/officeDocument/2006/relationships" id="294" r:id="R46ad98453db94605"/>
    <p:sldId xmlns:r="http://schemas.openxmlformats.org/officeDocument/2006/relationships" id="295" r:id="R86f78598e9bb49ab"/>
    <p:sldId xmlns:r="http://schemas.openxmlformats.org/officeDocument/2006/relationships" id="296" r:id="Rcd24db7221a8436b"/>
    <p:sldId xmlns:r="http://schemas.openxmlformats.org/officeDocument/2006/relationships" id="297" r:id="Rb2fdee47214442f3"/>
    <p:sldId xmlns:r="http://schemas.openxmlformats.org/officeDocument/2006/relationships" id="298" r:id="Rfd4e2a4c3fd7440e"/>
    <p:sldId xmlns:r="http://schemas.openxmlformats.org/officeDocument/2006/relationships" id="299" r:id="R41079e43b9d6484d"/>
    <p:sldId xmlns:r="http://schemas.openxmlformats.org/officeDocument/2006/relationships" id="300" r:id="R56a6ac1b6f6b482a"/>
    <p:sldId xmlns:r="http://schemas.openxmlformats.org/officeDocument/2006/relationships" id="301" r:id="R29ff676fd73a4010"/>
    <p:sldId xmlns:r="http://schemas.openxmlformats.org/officeDocument/2006/relationships" id="302" r:id="R80fca97d1c79448e"/>
    <p:sldId xmlns:r="http://schemas.openxmlformats.org/officeDocument/2006/relationships" id="303" r:id="R7300a426b0394e6a"/>
    <p:sldId xmlns:r="http://schemas.openxmlformats.org/officeDocument/2006/relationships" id="304" r:id="Rf2aa0360c9814ac8"/>
    <p:sldId xmlns:r="http://schemas.openxmlformats.org/officeDocument/2006/relationships" id="305" r:id="Rc0e00d729bb741d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444e24c6c0449f" /><Relationship Type="http://schemas.openxmlformats.org/officeDocument/2006/relationships/theme" Target="/ppt/theme/theme1.xml" Id="Rdb25c84424ff4086" /><Relationship Type="http://schemas.openxmlformats.org/officeDocument/2006/relationships/notesMaster" Target="/ppt/notesMasters/notesMaster1.xml" Id="R59feb30a49064ec4" /><Relationship Type="http://schemas.openxmlformats.org/officeDocument/2006/relationships/presProps" Target="/ppt/presProps.xml" Id="R4456d051edf24b4a" /><Relationship Type="http://schemas.openxmlformats.org/officeDocument/2006/relationships/viewProps" Target="/ppt/viewProps.xml" Id="R35b567bb7b6b4d4d" /><Relationship Type="http://schemas.openxmlformats.org/officeDocument/2006/relationships/tableStyles" Target="/ppt/tableStyles.xml" Id="R964fc86f1ac249ff" /><Relationship Type="http://schemas.openxmlformats.org/officeDocument/2006/relationships/slide" Target="/ppt/slides/slide1.xml" Id="Rca969e60d7fd4e65" /><Relationship Type="http://schemas.openxmlformats.org/officeDocument/2006/relationships/slide" Target="/ppt/slides/slide2.xml" Id="Rf521e478d59348b5" /><Relationship Type="http://schemas.openxmlformats.org/officeDocument/2006/relationships/slide" Target="/ppt/slides/slide3.xml" Id="R87b6eaad584e4ba8" /><Relationship Type="http://schemas.openxmlformats.org/officeDocument/2006/relationships/slide" Target="/ppt/slides/slide4.xml" Id="R7d86ef1b9ab9439e" /><Relationship Type="http://schemas.openxmlformats.org/officeDocument/2006/relationships/slide" Target="/ppt/slides/slide5.xml" Id="Ree0d20f9dee54e2a" /><Relationship Type="http://schemas.openxmlformats.org/officeDocument/2006/relationships/slide" Target="/ppt/slides/slide6.xml" Id="R8fb0ac0057154ca7" /><Relationship Type="http://schemas.openxmlformats.org/officeDocument/2006/relationships/slide" Target="/ppt/slides/slide7.xml" Id="R5372e6092cef4d83" /><Relationship Type="http://schemas.openxmlformats.org/officeDocument/2006/relationships/slide" Target="/ppt/slides/slide8.xml" Id="R020767f7eb6e47d1" /><Relationship Type="http://schemas.openxmlformats.org/officeDocument/2006/relationships/slide" Target="/ppt/slides/slide9.xml" Id="R6d69829acc05448d" /><Relationship Type="http://schemas.openxmlformats.org/officeDocument/2006/relationships/slide" Target="/ppt/slides/slide10.xml" Id="Recb7ece49c18408c" /><Relationship Type="http://schemas.openxmlformats.org/officeDocument/2006/relationships/slide" Target="/ppt/slides/slide11.xml" Id="R37f4210967884a43" /><Relationship Type="http://schemas.openxmlformats.org/officeDocument/2006/relationships/slide" Target="/ppt/slides/slide12.xml" Id="R23c45fdcd511458f" /><Relationship Type="http://schemas.openxmlformats.org/officeDocument/2006/relationships/slide" Target="/ppt/slides/slide13.xml" Id="Rf6429e5f39be456f" /><Relationship Type="http://schemas.openxmlformats.org/officeDocument/2006/relationships/slide" Target="/ppt/slides/slide14.xml" Id="Rb3eef06b005645a5" /><Relationship Type="http://schemas.openxmlformats.org/officeDocument/2006/relationships/slide" Target="/ppt/slides/slide15.xml" Id="R35eac44646444a96" /><Relationship Type="http://schemas.openxmlformats.org/officeDocument/2006/relationships/slide" Target="/ppt/slides/slide16.xml" Id="Raa48ee38aee64cbb" /><Relationship Type="http://schemas.openxmlformats.org/officeDocument/2006/relationships/slide" Target="/ppt/slides/slide17.xml" Id="Re6998acfb9c044d7" /><Relationship Type="http://schemas.openxmlformats.org/officeDocument/2006/relationships/slide" Target="/ppt/slides/slide18.xml" Id="R0af5b49aaee24a6a" /><Relationship Type="http://schemas.openxmlformats.org/officeDocument/2006/relationships/slide" Target="/ppt/slides/slide19.xml" Id="R45807e52c70141e1" /><Relationship Type="http://schemas.openxmlformats.org/officeDocument/2006/relationships/slide" Target="/ppt/slides/slide20.xml" Id="Rb920add782434965" /><Relationship Type="http://schemas.openxmlformats.org/officeDocument/2006/relationships/slide" Target="/ppt/slides/slide21.xml" Id="Rab54276c522c42d5" /><Relationship Type="http://schemas.openxmlformats.org/officeDocument/2006/relationships/slide" Target="/ppt/slides/slide22.xml" Id="R405a6abb1c494e5f" /><Relationship Type="http://schemas.openxmlformats.org/officeDocument/2006/relationships/slide" Target="/ppt/slides/slide23.xml" Id="Raa8ef23b89184233" /><Relationship Type="http://schemas.openxmlformats.org/officeDocument/2006/relationships/slide" Target="/ppt/slides/slide24.xml" Id="R357712be69c046ad" /><Relationship Type="http://schemas.openxmlformats.org/officeDocument/2006/relationships/slide" Target="/ppt/slides/slide25.xml" Id="Re1314f19ee7e4828" /><Relationship Type="http://schemas.openxmlformats.org/officeDocument/2006/relationships/slide" Target="/ppt/slides/slide26.xml" Id="R8d49741c23044b15" /><Relationship Type="http://schemas.openxmlformats.org/officeDocument/2006/relationships/slide" Target="/ppt/slides/slide27.xml" Id="R34a05d3e5d0641b7" /><Relationship Type="http://schemas.openxmlformats.org/officeDocument/2006/relationships/slide" Target="/ppt/slides/slide28.xml" Id="R1e5d9961ec844fac" /><Relationship Type="http://schemas.openxmlformats.org/officeDocument/2006/relationships/slide" Target="/ppt/slides/slide29.xml" Id="Ra80dfcffeeb04747" /><Relationship Type="http://schemas.openxmlformats.org/officeDocument/2006/relationships/slide" Target="/ppt/slides/slide30.xml" Id="R6a3d5b4a8a904d99" /><Relationship Type="http://schemas.openxmlformats.org/officeDocument/2006/relationships/slide" Target="/ppt/slides/slide31.xml" Id="R97b5084474424e9d" /><Relationship Type="http://schemas.openxmlformats.org/officeDocument/2006/relationships/slide" Target="/ppt/slides/slide32.xml" Id="R2644d10a052144c8" /><Relationship Type="http://schemas.openxmlformats.org/officeDocument/2006/relationships/slide" Target="/ppt/slides/slide33.xml" Id="R34cab6a736bd45fa" /><Relationship Type="http://schemas.openxmlformats.org/officeDocument/2006/relationships/slide" Target="/ppt/slides/slide34.xml" Id="Rd96f74da93344252" /><Relationship Type="http://schemas.openxmlformats.org/officeDocument/2006/relationships/slide" Target="/ppt/slides/slide35.xml" Id="R0f4b48bf549d4dae" /><Relationship Type="http://schemas.openxmlformats.org/officeDocument/2006/relationships/slide" Target="/ppt/slides/slide36.xml" Id="R4d56dc17068f4c72" /><Relationship Type="http://schemas.openxmlformats.org/officeDocument/2006/relationships/slide" Target="/ppt/slides/slide37.xml" Id="R9eef13b241074ad8" /><Relationship Type="http://schemas.openxmlformats.org/officeDocument/2006/relationships/slide" Target="/ppt/slides/slide38.xml" Id="R1621e1a46a8f4381" /><Relationship Type="http://schemas.openxmlformats.org/officeDocument/2006/relationships/slide" Target="/ppt/slides/slide39.xml" Id="R46ad98453db94605" /><Relationship Type="http://schemas.openxmlformats.org/officeDocument/2006/relationships/slide" Target="/ppt/slides/slide40.xml" Id="R86f78598e9bb49ab" /><Relationship Type="http://schemas.openxmlformats.org/officeDocument/2006/relationships/slide" Target="/ppt/slides/slide41.xml" Id="Rcd24db7221a8436b" /><Relationship Type="http://schemas.openxmlformats.org/officeDocument/2006/relationships/slide" Target="/ppt/slides/slide42.xml" Id="Rb2fdee47214442f3" /><Relationship Type="http://schemas.openxmlformats.org/officeDocument/2006/relationships/slide" Target="/ppt/slides/slide43.xml" Id="Rfd4e2a4c3fd7440e" /><Relationship Type="http://schemas.openxmlformats.org/officeDocument/2006/relationships/slide" Target="/ppt/slides/slide44.xml" Id="R41079e43b9d6484d" /><Relationship Type="http://schemas.openxmlformats.org/officeDocument/2006/relationships/slide" Target="/ppt/slides/slide45.xml" Id="R56a6ac1b6f6b482a" /><Relationship Type="http://schemas.openxmlformats.org/officeDocument/2006/relationships/slide" Target="/ppt/slides/slide46.xml" Id="R29ff676fd73a4010" /><Relationship Type="http://schemas.openxmlformats.org/officeDocument/2006/relationships/slide" Target="/ppt/slides/slide47.xml" Id="R80fca97d1c79448e" /><Relationship Type="http://schemas.openxmlformats.org/officeDocument/2006/relationships/slide" Target="/ppt/slides/slide48.xml" Id="R7300a426b0394e6a" /><Relationship Type="http://schemas.openxmlformats.org/officeDocument/2006/relationships/slide" Target="/ppt/slides/slide49.xml" Id="Rf2aa0360c9814ac8" /><Relationship Type="http://schemas.openxmlformats.org/officeDocument/2006/relationships/slide" Target="/ppt/slides/slide50.xml" Id="Rc0e00d729bb741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4499e6f3d2d4a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3110f87579410a" /><Relationship Type="http://schemas.openxmlformats.org/officeDocument/2006/relationships/notesMaster" Target="/ppt/notesMasters/notesMaster1.xml" Id="R9403f5b1009640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39310808304131" /><Relationship Type="http://schemas.openxmlformats.org/officeDocument/2006/relationships/notesMaster" Target="/ppt/notesMasters/notesMaster1.xml" Id="Ra9ad6029256041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b51da779db4640" /><Relationship Type="http://schemas.openxmlformats.org/officeDocument/2006/relationships/notesMaster" Target="/ppt/notesMasters/notesMaster1.xml" Id="R94f94a7e82eb46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441527ccb54e3a" /><Relationship Type="http://schemas.openxmlformats.org/officeDocument/2006/relationships/notesMaster" Target="/ppt/notesMasters/notesMaster1.xml" Id="Rf1138744cb7041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6af06871f5400f" /><Relationship Type="http://schemas.openxmlformats.org/officeDocument/2006/relationships/notesMaster" Target="/ppt/notesMasters/notesMaster1.xml" Id="Rcaf9df36702d48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f55f79e2254f97" /><Relationship Type="http://schemas.openxmlformats.org/officeDocument/2006/relationships/notesMaster" Target="/ppt/notesMasters/notesMaster1.xml" Id="R8943b1440d2345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f997995cea4dda" /><Relationship Type="http://schemas.openxmlformats.org/officeDocument/2006/relationships/notesMaster" Target="/ppt/notesMasters/notesMaster1.xml" Id="Rb32b4057b2c24a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31a8b5de874225" /><Relationship Type="http://schemas.openxmlformats.org/officeDocument/2006/relationships/notesMaster" Target="/ppt/notesMasters/notesMaster1.xml" Id="R44960f43440244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b6540d49164e5f" /><Relationship Type="http://schemas.openxmlformats.org/officeDocument/2006/relationships/notesMaster" Target="/ppt/notesMasters/notesMaster1.xml" Id="Rf2bc63a15e9948e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ef5d4a35844801" /><Relationship Type="http://schemas.openxmlformats.org/officeDocument/2006/relationships/notesMaster" Target="/ppt/notesMasters/notesMaster1.xml" Id="R5ec239bd5c2441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8a31e8c5b14362" /><Relationship Type="http://schemas.openxmlformats.org/officeDocument/2006/relationships/notesMaster" Target="/ppt/notesMasters/notesMaster1.xml" Id="R83d3cdb85a2147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14fd3d325784c71" /><Relationship Type="http://schemas.openxmlformats.org/officeDocument/2006/relationships/notesMaster" Target="/ppt/notesMasters/notesMaster1.xml" Id="Rc82516b56b9642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176c118df54621" /><Relationship Type="http://schemas.openxmlformats.org/officeDocument/2006/relationships/notesMaster" Target="/ppt/notesMasters/notesMaster1.xml" Id="R2d2a77fee5a94fb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f7dbc483a342ce" /><Relationship Type="http://schemas.openxmlformats.org/officeDocument/2006/relationships/notesMaster" Target="/ppt/notesMasters/notesMaster1.xml" Id="R69965ed5f9c8415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b6c6468bbd343c5" /><Relationship Type="http://schemas.openxmlformats.org/officeDocument/2006/relationships/notesMaster" Target="/ppt/notesMasters/notesMaster1.xml" Id="R4f9273586eaf491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cf716e31f3643b2" /><Relationship Type="http://schemas.openxmlformats.org/officeDocument/2006/relationships/notesMaster" Target="/ppt/notesMasters/notesMaster1.xml" Id="R5ccd56c5aadd4a8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b3553a283e64374" /><Relationship Type="http://schemas.openxmlformats.org/officeDocument/2006/relationships/notesMaster" Target="/ppt/notesMasters/notesMaster1.xml" Id="Rd06041c2bc4e4c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802ee14b8174ca9" /><Relationship Type="http://schemas.openxmlformats.org/officeDocument/2006/relationships/notesMaster" Target="/ppt/notesMasters/notesMaster1.xml" Id="R669a89493ed043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97a681ee7634c0c" /><Relationship Type="http://schemas.openxmlformats.org/officeDocument/2006/relationships/notesMaster" Target="/ppt/notesMasters/notesMaster1.xml" Id="Rad64cc73b66f4f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e490050636b4fa0" /><Relationship Type="http://schemas.openxmlformats.org/officeDocument/2006/relationships/notesMaster" Target="/ppt/notesMasters/notesMaster1.xml" Id="R213b0136cc1b4ba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34be28a6ece42d2" /><Relationship Type="http://schemas.openxmlformats.org/officeDocument/2006/relationships/notesMaster" Target="/ppt/notesMasters/notesMaster1.xml" Id="R734eab9bb41549e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b8b7f908189410b" /><Relationship Type="http://schemas.openxmlformats.org/officeDocument/2006/relationships/notesMaster" Target="/ppt/notesMasters/notesMaster1.xml" Id="R419fcbc30fa4402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38dddd199504249" /><Relationship Type="http://schemas.openxmlformats.org/officeDocument/2006/relationships/notesMaster" Target="/ppt/notesMasters/notesMaster1.xml" Id="R2137971221f8481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dc0a6c82a0c461d" /><Relationship Type="http://schemas.openxmlformats.org/officeDocument/2006/relationships/notesMaster" Target="/ppt/notesMasters/notesMaster1.xml" Id="Rd7e38b286de543b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8ccb18547f643c8" /><Relationship Type="http://schemas.openxmlformats.org/officeDocument/2006/relationships/notesMaster" Target="/ppt/notesMasters/notesMaster1.xml" Id="R1b32eb5fb0d74ce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f8c885bb9774706" /><Relationship Type="http://schemas.openxmlformats.org/officeDocument/2006/relationships/notesMaster" Target="/ppt/notesMasters/notesMaster1.xml" Id="Ra0bae68cd8764d6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ea69dc718a84b00" /><Relationship Type="http://schemas.openxmlformats.org/officeDocument/2006/relationships/notesMaster" Target="/ppt/notesMasters/notesMaster1.xml" Id="R266e7524f325435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fd41ff0666a43b0" /><Relationship Type="http://schemas.openxmlformats.org/officeDocument/2006/relationships/notesMaster" Target="/ppt/notesMasters/notesMaster1.xml" Id="Ra268e84c39094b4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cad02323a80429b" /><Relationship Type="http://schemas.openxmlformats.org/officeDocument/2006/relationships/notesMaster" Target="/ppt/notesMasters/notesMaster1.xml" Id="R5b83842363ca4f7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80f6c58b37347ea" /><Relationship Type="http://schemas.openxmlformats.org/officeDocument/2006/relationships/notesMaster" Target="/ppt/notesMasters/notesMaster1.xml" Id="Rb865ebdac062496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4540e8bd9674eb6" /><Relationship Type="http://schemas.openxmlformats.org/officeDocument/2006/relationships/notesMaster" Target="/ppt/notesMasters/notesMaster1.xml" Id="Rc6007e304685450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92630ecbf774bfb" /><Relationship Type="http://schemas.openxmlformats.org/officeDocument/2006/relationships/notesMaster" Target="/ppt/notesMasters/notesMaster1.xml" Id="R9fa5619aae6a4cd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1cc4d7ae6c44a36" /><Relationship Type="http://schemas.openxmlformats.org/officeDocument/2006/relationships/notesMaster" Target="/ppt/notesMasters/notesMaster1.xml" Id="R19c24646034e414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3334608e3f842d4" /><Relationship Type="http://schemas.openxmlformats.org/officeDocument/2006/relationships/notesMaster" Target="/ppt/notesMasters/notesMaster1.xml" Id="R49e3188639a2444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658a04f235e4645" /><Relationship Type="http://schemas.openxmlformats.org/officeDocument/2006/relationships/notesMaster" Target="/ppt/notesMasters/notesMaster1.xml" Id="R9a9b0d65c2044b7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da8b4489f444497" /><Relationship Type="http://schemas.openxmlformats.org/officeDocument/2006/relationships/notesMaster" Target="/ppt/notesMasters/notesMaster1.xml" Id="R2725457d5cf14d5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c6a83fb726b4a6b" /><Relationship Type="http://schemas.openxmlformats.org/officeDocument/2006/relationships/notesMaster" Target="/ppt/notesMasters/notesMaster1.xml" Id="Rd0403d95ed50499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7cb2fcadd2b4692" /><Relationship Type="http://schemas.openxmlformats.org/officeDocument/2006/relationships/notesMaster" Target="/ppt/notesMasters/notesMaster1.xml" Id="Rd3aaf17522a1479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b2e191062814c13" /><Relationship Type="http://schemas.openxmlformats.org/officeDocument/2006/relationships/notesMaster" Target="/ppt/notesMasters/notesMaster1.xml" Id="R7c9407127c924a3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2b89c81d3bb40b5" /><Relationship Type="http://schemas.openxmlformats.org/officeDocument/2006/relationships/notesMaster" Target="/ppt/notesMasters/notesMaster1.xml" Id="R5ab67ba7331e453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6ff3a9fade34575" /><Relationship Type="http://schemas.openxmlformats.org/officeDocument/2006/relationships/notesMaster" Target="/ppt/notesMasters/notesMaster1.xml" Id="Ra8aed332231f4ef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364b0fc1947412f" /><Relationship Type="http://schemas.openxmlformats.org/officeDocument/2006/relationships/notesMaster" Target="/ppt/notesMasters/notesMaster1.xml" Id="R858ae78e840e414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d1f1cb9527e4298" /><Relationship Type="http://schemas.openxmlformats.org/officeDocument/2006/relationships/notesMaster" Target="/ppt/notesMasters/notesMaster1.xml" Id="R9b4af7831264496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f996eeadbde4b96" /><Relationship Type="http://schemas.openxmlformats.org/officeDocument/2006/relationships/notesMaster" Target="/ppt/notesMasters/notesMaster1.xml" Id="R7a7dc9f8345f47c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b676c872ae14783" /><Relationship Type="http://schemas.openxmlformats.org/officeDocument/2006/relationships/notesMaster" Target="/ppt/notesMasters/notesMaster1.xml" Id="R4340f35e04cd45a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58b4b5a842048ea" /><Relationship Type="http://schemas.openxmlformats.org/officeDocument/2006/relationships/notesMaster" Target="/ppt/notesMasters/notesMaster1.xml" Id="R17a82979c74740f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48ebf813abb4c72" /><Relationship Type="http://schemas.openxmlformats.org/officeDocument/2006/relationships/notesMaster" Target="/ppt/notesMasters/notesMaster1.xml" Id="Rc26097a14e974ef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feae9f7c95f4004" /><Relationship Type="http://schemas.openxmlformats.org/officeDocument/2006/relationships/notesMaster" Target="/ppt/notesMasters/notesMaster1.xml" Id="R31486b2540884e4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18bcc879f3347da" /><Relationship Type="http://schemas.openxmlformats.org/officeDocument/2006/relationships/notesMaster" Target="/ppt/notesMasters/notesMaster1.xml" Id="R1fbf3e54670e491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40e09c3f6764374" /><Relationship Type="http://schemas.openxmlformats.org/officeDocument/2006/relationships/notesMaster" Target="/ppt/notesMasters/notesMaster1.xml" Id="Rcd6ec2990af44e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65899231c64ab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80f263938e248e6" /><Relationship Type="http://schemas.openxmlformats.org/officeDocument/2006/relationships/slideLayout" Target="/ppt/slideLayouts/slideLayout2.xml" Id="Ra4fe24eb43524d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fe24eb43524d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75a6f6c90646c0" /><Relationship Type="http://schemas.openxmlformats.org/officeDocument/2006/relationships/notesSlide" Target="/ppt/notesSlides/notesSlide1.xml" Id="R7e6b67cb8b9746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7fb7ccef964e2c" /><Relationship Type="http://schemas.openxmlformats.org/officeDocument/2006/relationships/notesSlide" Target="/ppt/notesSlides/notesSlide2.xml" Id="R4fbc0d9614ba48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8747ef9d684b6f" /><Relationship Type="http://schemas.openxmlformats.org/officeDocument/2006/relationships/notesSlide" Target="/ppt/notesSlides/notesSlide3.xml" Id="R4697370911a64b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2bbcb7eccd4c24" /><Relationship Type="http://schemas.openxmlformats.org/officeDocument/2006/relationships/notesSlide" Target="/ppt/notesSlides/notesSlide4.xml" Id="R2a8f9246f3294d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3d97f7cdd84f14" /><Relationship Type="http://schemas.openxmlformats.org/officeDocument/2006/relationships/notesSlide" Target="/ppt/notesSlides/notesSlide5.xml" Id="Rdbfc6e66b5d84c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515fa4198c4001" /><Relationship Type="http://schemas.openxmlformats.org/officeDocument/2006/relationships/notesSlide" Target="/ppt/notesSlides/notesSlide6.xml" Id="R8f5c4f4eeee247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22019f05e74b6c" /><Relationship Type="http://schemas.openxmlformats.org/officeDocument/2006/relationships/notesSlide" Target="/ppt/notesSlides/notesSlide7.xml" Id="R0c8279bc73aa42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0cff788d544223" /><Relationship Type="http://schemas.openxmlformats.org/officeDocument/2006/relationships/notesSlide" Target="/ppt/notesSlides/notesSlide8.xml" Id="R1ae2f207879844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f2348c1c3044cb" /><Relationship Type="http://schemas.openxmlformats.org/officeDocument/2006/relationships/notesSlide" Target="/ppt/notesSlides/notesSlide9.xml" Id="R49f18e89442749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db7f1259864c1e" /><Relationship Type="http://schemas.openxmlformats.org/officeDocument/2006/relationships/notesSlide" Target="/ppt/notesSlides/notesSlide10.xml" Id="R156a628da1da47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f38eeca99545cb" /><Relationship Type="http://schemas.openxmlformats.org/officeDocument/2006/relationships/notesSlide" Target="/ppt/notesSlides/notesSlide11.xml" Id="Rdbffab2c040d446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f4bd0aba7347d0" /><Relationship Type="http://schemas.openxmlformats.org/officeDocument/2006/relationships/notesSlide" Target="/ppt/notesSlides/notesSlide12.xml" Id="Rd36a4c0b6dbb42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49951e3d3043bf" /><Relationship Type="http://schemas.openxmlformats.org/officeDocument/2006/relationships/notesSlide" Target="/ppt/notesSlides/notesSlide13.xml" Id="R2cb5e7442e334e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e6daed985c4295" /><Relationship Type="http://schemas.openxmlformats.org/officeDocument/2006/relationships/notesSlide" Target="/ppt/notesSlides/notesSlide14.xml" Id="R3a41ea24138a4c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559f5a6d504af4" /><Relationship Type="http://schemas.openxmlformats.org/officeDocument/2006/relationships/notesSlide" Target="/ppt/notesSlides/notesSlide15.xml" Id="Rb18e34eff6e848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2e688b88a04383" /><Relationship Type="http://schemas.openxmlformats.org/officeDocument/2006/relationships/notesSlide" Target="/ppt/notesSlides/notesSlide16.xml" Id="R4710c9ad3d954fc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b5bfddc39746f8" /><Relationship Type="http://schemas.openxmlformats.org/officeDocument/2006/relationships/notesSlide" Target="/ppt/notesSlides/notesSlide17.xml" Id="Rc9b2c9e7a1d3491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88b08bb2f24cb1" /><Relationship Type="http://schemas.openxmlformats.org/officeDocument/2006/relationships/notesSlide" Target="/ppt/notesSlides/notesSlide18.xml" Id="R235b2ba13688427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1c0dde5de440ad" /><Relationship Type="http://schemas.openxmlformats.org/officeDocument/2006/relationships/notesSlide" Target="/ppt/notesSlides/notesSlide19.xml" Id="R080cc1d53db0468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8a5d8faefb4aa3" /><Relationship Type="http://schemas.openxmlformats.org/officeDocument/2006/relationships/notesSlide" Target="/ppt/notesSlides/notesSlide20.xml" Id="Rf869623f791c4e4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e02d6e8e8f4f2a" /><Relationship Type="http://schemas.openxmlformats.org/officeDocument/2006/relationships/notesSlide" Target="/ppt/notesSlides/notesSlide21.xml" Id="R8413bd43d5a4422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fd627cd6b14c44" /><Relationship Type="http://schemas.openxmlformats.org/officeDocument/2006/relationships/notesSlide" Target="/ppt/notesSlides/notesSlide22.xml" Id="Rd74abffca7b1442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728e002bd94480" /><Relationship Type="http://schemas.openxmlformats.org/officeDocument/2006/relationships/notesSlide" Target="/ppt/notesSlides/notesSlide23.xml" Id="R7fadf0314cb840a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65fef885974e2d" /><Relationship Type="http://schemas.openxmlformats.org/officeDocument/2006/relationships/notesSlide" Target="/ppt/notesSlides/notesSlide24.xml" Id="Ra40acbdb8fed4b5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56b69e29004056" /><Relationship Type="http://schemas.openxmlformats.org/officeDocument/2006/relationships/notesSlide" Target="/ppt/notesSlides/notesSlide25.xml" Id="Rd2d0228e0b46450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bda79344ff40c1" /><Relationship Type="http://schemas.openxmlformats.org/officeDocument/2006/relationships/notesSlide" Target="/ppt/notesSlides/notesSlide26.xml" Id="Re69f2ba0ea4848a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6693ee7b1e45de" /><Relationship Type="http://schemas.openxmlformats.org/officeDocument/2006/relationships/notesSlide" Target="/ppt/notesSlides/notesSlide27.xml" Id="R3435566327fb467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9f600514214c31" /><Relationship Type="http://schemas.openxmlformats.org/officeDocument/2006/relationships/notesSlide" Target="/ppt/notesSlides/notesSlide28.xml" Id="R21743a7831ad441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ff90ad588b4aab" /><Relationship Type="http://schemas.openxmlformats.org/officeDocument/2006/relationships/notesSlide" Target="/ppt/notesSlides/notesSlide29.xml" Id="R7330e5bd8540407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a3ab0b5dc24c53" /><Relationship Type="http://schemas.openxmlformats.org/officeDocument/2006/relationships/notesSlide" Target="/ppt/notesSlides/notesSlide30.xml" Id="R7999b859507a4a0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666aa2629e459e" /><Relationship Type="http://schemas.openxmlformats.org/officeDocument/2006/relationships/notesSlide" Target="/ppt/notesSlides/notesSlide31.xml" Id="R692364a351004c8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7bf162d16a49b8" /><Relationship Type="http://schemas.openxmlformats.org/officeDocument/2006/relationships/notesSlide" Target="/ppt/notesSlides/notesSlide32.xml" Id="Ra14d35abb25c423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971bbb245c457d" /><Relationship Type="http://schemas.openxmlformats.org/officeDocument/2006/relationships/notesSlide" Target="/ppt/notesSlides/notesSlide33.xml" Id="R108748e7ed494d1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dd4a6bb62c4ea4" /><Relationship Type="http://schemas.openxmlformats.org/officeDocument/2006/relationships/notesSlide" Target="/ppt/notesSlides/notesSlide34.xml" Id="R6da387f7b156471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498c37b2614688" /><Relationship Type="http://schemas.openxmlformats.org/officeDocument/2006/relationships/notesSlide" Target="/ppt/notesSlides/notesSlide35.xml" Id="Ra09f4a215b0d446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fc5de4c862456f" /><Relationship Type="http://schemas.openxmlformats.org/officeDocument/2006/relationships/notesSlide" Target="/ppt/notesSlides/notesSlide36.xml" Id="Rea1735eab1f34bf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41848afc764b34" /><Relationship Type="http://schemas.openxmlformats.org/officeDocument/2006/relationships/notesSlide" Target="/ppt/notesSlides/notesSlide37.xml" Id="R7b88e7943d4346b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2d9705d1ec41fc" /><Relationship Type="http://schemas.openxmlformats.org/officeDocument/2006/relationships/notesSlide" Target="/ppt/notesSlides/notesSlide38.xml" Id="Red2761265b4049c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df0b60d4d04232" /><Relationship Type="http://schemas.openxmlformats.org/officeDocument/2006/relationships/notesSlide" Target="/ppt/notesSlides/notesSlide39.xml" Id="R6fdfdfea7647496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40170d98064822" /><Relationship Type="http://schemas.openxmlformats.org/officeDocument/2006/relationships/notesSlide" Target="/ppt/notesSlides/notesSlide40.xml" Id="Ra2d864fe9c274ed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c42896e937473c" /><Relationship Type="http://schemas.openxmlformats.org/officeDocument/2006/relationships/notesSlide" Target="/ppt/notesSlides/notesSlide41.xml" Id="R4c97b263bb174bb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bad058033e4507" /><Relationship Type="http://schemas.openxmlformats.org/officeDocument/2006/relationships/notesSlide" Target="/ppt/notesSlides/notesSlide42.xml" Id="R168e6a6986874f01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62851800f64144" /><Relationship Type="http://schemas.openxmlformats.org/officeDocument/2006/relationships/notesSlide" Target="/ppt/notesSlides/notesSlide43.xml" Id="Rd6413f2d3a07456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8ea520d0104f2a" /><Relationship Type="http://schemas.openxmlformats.org/officeDocument/2006/relationships/notesSlide" Target="/ppt/notesSlides/notesSlide44.xml" Id="R07b4a03f1e3c4cb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56ba0b8b9b4095" /><Relationship Type="http://schemas.openxmlformats.org/officeDocument/2006/relationships/notesSlide" Target="/ppt/notesSlides/notesSlide45.xml" Id="Ra02ffcf3338b428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7ac085b27d4db3" /><Relationship Type="http://schemas.openxmlformats.org/officeDocument/2006/relationships/notesSlide" Target="/ppt/notesSlides/notesSlide46.xml" Id="R0cb08b76c7e3426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32f68614b4411f" /><Relationship Type="http://schemas.openxmlformats.org/officeDocument/2006/relationships/notesSlide" Target="/ppt/notesSlides/notesSlide47.xml" Id="R772da660480e477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c4321c8a6842dc" /><Relationship Type="http://schemas.openxmlformats.org/officeDocument/2006/relationships/notesSlide" Target="/ppt/notesSlides/notesSlide48.xml" Id="R50fd7378085c42c9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da4b147015458c" /><Relationship Type="http://schemas.openxmlformats.org/officeDocument/2006/relationships/notesSlide" Target="/ppt/notesSlides/notesSlide49.xml" Id="R7f4898fc5e3344f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26833add5e444f" /><Relationship Type="http://schemas.openxmlformats.org/officeDocument/2006/relationships/notesSlide" Target="/ppt/notesSlides/notesSlide50.xml" Id="R5d3859793c8b480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6BD6A6-79BF-469F-A123-2FE0DD18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6C998D-A543-45A1-B81A-5D91C801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D542B-A187-4B4E-BFCF-F46D4903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400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대한항공 예약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5C132-9BF3-4D76-B195-6489067C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02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ITERATION 4 FINAL · GOOGLE DOC ALIGNED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4F24C-5519-4056-9BD1-E4C5A99F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9개 Design Pattern을 아주 구체적으로 설명하는 최종 발표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688F4-1786-41F3-A8C8-AD17A49F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Google Doc의 Form #1~#3, Section 4~16을 반영하고,</a:t>
            </a:r>
          </a:p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실제 코드와 맞지 않는 표현은 정정해 구조/메서드/시연 흐름을 다시 정리했다.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91739-4EFE-4F1D-8D81-B1BDD1C6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19250"/>
            <a:ext cx="3143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27972-53AF-4630-B422-8140DADA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19250"/>
            <a:ext cx="4762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B1B4D-B263-47DB-9917-669EBC62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716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이번 v3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09767-F680-42B3-87DA-06CC89AA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76450"/>
            <a:ext cx="28003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페이지 수를 아끼지 않음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1. 누적 요구사항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2. 변경/확장 목록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3. DP별 레퍼런스 구조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4. 우리 클래스 매핑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5. 실제 코드 skeleton</a:t>
            </a:r>
          </a:p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6. 앱 시연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7B1590-0D69-4A40-9F7E-16FF597D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5E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4C8A24-6329-46A4-902E-B362AFF5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ADD434-6547-49B8-A445-E4F19A5D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5E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89AEB1-BB6F-4910-8201-A4843B7A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387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Strategy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BFEDA0-21C5-424E-8E12-6F6DD937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5E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77245-3A0F-4898-9C57-5E1CC2FA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387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3EB12A-D81D-4E15-81AD-6AFCA84C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00AF4-4B6D-48C4-9ECF-D38DC061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387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D1C55-E914-48F7-95F6-C805EF40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2F1A2D-646F-4194-A536-6221F7D9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3870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34A274-E821-4491-B4B5-880C0278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06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A232E7-F100-4ABC-BC8B-C929EE4A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9ED0BD-5201-4EEF-8343-5076AA41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2006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6BCBD-1DA0-487C-95E6-F0D46B12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768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Template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37CDE0-33FB-4698-A970-B3C66C51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2006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BEEC86-FA8C-4DD5-A56A-A533E071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768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FEEA4C-C209-4CBA-AAD4-C7389300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006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A2DD0B-AEEE-4801-97B6-F55796C0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276850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26E3E8-0995-45DE-A2A6-1F7F63AD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7220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ECE312 객체지향 설계패턴 · Team A · 김정욱 / 이재호 / 김경동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372BB0-180F-4F12-85B0-43F96494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01 / 50</a:t>
            </a:r>
          </a:p>
        </p:txBody>
      </p:sp>
    </p:spTree>
    <p:extLst>
      <p:ext uri="{BB962C8B-B14F-4D97-AF65-F5344CB8AC3E}">
        <p14:creationId xmlns:p14="http://schemas.microsoft.com/office/powerpoint/2010/main" val="34930955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ABFD0E-3191-44D4-AF04-109AC8DA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6649A-6783-494B-A436-F5D3A6E1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REVISION RULE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B116D-A893-4EC9-820C-0C394C9A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수정 원칙: 문서 그대로 + 코드 대조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D7BBE-2E8B-4AEE-A507-E83BAA82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Google Doc 내용은 최대한 가져오되, 실제 코드와 어긋나는 부분은 발표에서 틀리지 않게 정정한다.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7D8C0-B818-4EF1-ADCF-7BE06EF8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4B487-B272-49AD-88B7-BAAA6F52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02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32375-225C-4F94-B884-4B42BC2F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143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B90E8-0F55-49DE-AEBB-888F0A7E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4D96A-A408-4EA1-94F0-075C20CC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288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1. Google Doc 반영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C6426-C729-499E-B21F-2E1C605D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33600"/>
            <a:ext cx="2800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Form #1~#3, Section 4~12, Section 13~16 내용을 deck 장표로 확장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DD640-173B-42C0-AA1D-C45DC24D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076647-172F-4E16-8A45-F9CEB673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476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3"/>
          </a:solidFill>
          <a:ln xmlns:a="http://schemas.openxmlformats.org/drawingml/2006/main" w="0">
            <a:solidFill>
              <a:srgbClr val="00A87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E2090D-75E6-4A67-9BF3-004D8367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288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2. 코드 기준 검증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6ECBE7-3D34-45B4-96E2-F386AE52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2800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로컬 src의 실제 클래스/메서드를 확인해 DP 역할 매핑 수정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70E6F-5ADC-4332-AB00-69BEAB31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676400"/>
            <a:ext cx="2857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9536AC-8673-40EC-BEEB-320CCA75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676400"/>
            <a:ext cx="476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A01CB4-F79F-4718-8FD8-0ADB412E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288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3. 발표 가능성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9F42E3-A4C8-49E5-93DC-D49F6626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기능 설명보다 구조도, skeleton, demo trigger를 강화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DF3931-5E10-4D0E-B493-847536A3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981075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DFD0B8-E6FE-4AD0-A3B6-BD72DED1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9810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95F92F-E2FF-43A0-9B3C-68E363E6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76700"/>
            <a:ext cx="2228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오류 위험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DF1A8F-C217-4926-99A7-65984FB6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005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0F43C5-033F-45CB-9B74-9C690657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7670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문서 표현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D94C3A-4280-4A03-84AD-59C4B927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005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D83164-2713-42CB-A8CF-FC748E40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7670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deck에서 정정할 표현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8B16A2-13F2-46E2-BE6B-35EA5612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52950"/>
            <a:ext cx="2228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14F9CE-C477-40EB-89AE-937162F2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767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7AB58-FC40-4050-AB7C-ED732500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5295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구체 상태가 interface 직접 구현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3D8F19-131F-4E98-80FA-30B559CF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767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4E067E-6A21-4A57-9A5E-A25D6341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현재 코드는 AbstractReservationState 기본 거부층 포함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64573F-5FEC-4AAE-896D-8F8504F2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29200"/>
            <a:ext cx="2228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4C63CD-6597-40EB-96F9-C5BD597F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1464A6-E8FE-4142-B6B5-EB793E71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2920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PaymentProcessorFactory만 Creator처럼 보임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596BB4-0EED-4CC3-9ED0-9F3BAAA7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530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3D4E98-E403-48C0-9B71-4F138DE1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2920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PaymentMethodProcessor와 ItineraryFactory가 더 교과서적 Creator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F1DFA5-2084-4688-BB88-0F10433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05450"/>
            <a:ext cx="2228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UI migration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74944C-934E-4682-869C-1CBE8536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C200C4-2CA5-4480-9C94-DDF2E64D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50545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Control/Domain 한 줄도 변경 없음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85F193-F146-46B1-8061-686CE1BF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4292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B7DD1F-639B-4D58-AAE0-0E6DFCD2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05450"/>
            <a:ext cx="3562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Boundary 중심 전환 + Control glue 추가, Domain 패턴 보존</a:t>
            </a:r>
          </a:p>
        </p:txBody>
      </p:sp>
    </p:spTree>
    <p:extLst>
      <p:ext uri="{BB962C8B-B14F-4D97-AF65-F5344CB8AC3E}">
        <p14:creationId xmlns:p14="http://schemas.microsoft.com/office/powerpoint/2010/main" val="17761349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E01474-E573-46BA-BB59-AB6D2EDF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A4434-7D47-48EA-B961-B03CFCAA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SOURCE ALIGNMENT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E5B9BD-9F0F-4A6B-9A0C-3B10B4A6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Source Map: Google Doc → Deck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76C3C-6AED-4724-B0F5-CEA2DA66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사용자가 준 링크의 실제 export 내용을 기준으로 장표를 배치했다.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FB016-F0F4-4DD5-9969-2C1252AC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0EB81-CD8B-4221-AEB3-A1E98FFE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03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14998-943C-4AF9-A3E8-4E12EFBC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1000125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2908D8-DDE0-453C-BA6B-E8983715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47AB2E-2C13-4328-BB53-E9F414F6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Google Doc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16CEF-8D80-4347-8FDD-24A63CD2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638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59901-536D-4FF6-91F1-0342B432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1450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주요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CEA8F-22C5-45E3-9A0A-8FE77C9E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38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8B04E-62BF-4411-BB95-BF90B740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1450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deck 반영 위치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91CDE3-8AFC-4604-9B86-F8FCD9C8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 #1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83B519-042D-4AFD-AA32-F0F60043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526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B8D04-D769-42EC-85FE-BDA596C8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2885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누적 기능 인벤토리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5AF5A0-59DD-4039-AD1D-380348E3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526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F5A150-5AE4-4381-A498-003ABBCF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2885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Feature Inventory 2장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ABCB1-D1DB-4456-B2A5-A6350636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 #2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6016E-9862-4F1F-9728-91685F09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670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6D928-9135-46C2-AF31-1B2F15C0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4320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확장/변경 목록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88BD81-0814-4DE3-819F-6A12502B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D5E07B-06D8-4C11-823C-1AA13F67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Extension Inventory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B9C26B-5308-49BC-AF94-F6F90C78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 #3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563DE9-9840-48E1-A086-5D09AEDF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813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B48A2F-17E2-4297-BCEA-AB73332F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5755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Refactoring / DP Inventory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A33597-2D1A-4FD6-92B8-B8B34086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A23D46-6350-438D-9D01-39BD1844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5755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R/DP Mapping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3E909-ED13-432B-A639-1BA4F274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4~6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BB8B6D-7324-4BF2-BB9C-53552847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957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311E96-F76B-44AE-B9DD-DDFFE038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7190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Scope, migration, feature breakdown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95FD2C-8819-47A8-9DD0-605159E8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957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87FBBC-BE45-4E49-9C8C-974289B5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7190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Architecture + demo trigger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9DFCCC-2675-4949-A5E9-2E300C26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7~9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15FB57-8360-46F6-8128-245AFDD6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100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A41531-E95A-40A3-A63B-4F9C193D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28625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UML/sequence/demo scenarios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74DD0B-43E1-42BB-A10B-FCA73EE3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100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4F39AF-3894-45CB-8D73-099311E8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8625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Diagram/sequence/runbook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F311C7-3BBB-47CB-B7D0-F36E921E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0060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10~12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160895-75C1-428C-9356-4ACC20EA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724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1A5A3C-E00B-4976-8D22-CA6E4317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80060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QA, limits, progress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D3BAEA-EA3A-4068-9897-79D847F0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24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3A8245-581B-4752-9249-3B2FE6F6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0060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QA/limits/progress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77A986-501B-48A3-AB9A-8C01A9C9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13~16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6848A0-D19F-4AD8-8EBB-214A163C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38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089AED-9374-4A6E-A91D-E545F2E9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314950"/>
            <a:ext cx="3562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iter1~3 recap + Pattern Reference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1B0A40F-A9D6-4A90-A481-DB868233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38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1419A40-A0E4-4B58-B0DA-50B043B5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14950"/>
            <a:ext cx="413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DP별 레퍼런스/팀 구현 1:1</a:t>
            </a:r>
          </a:p>
        </p:txBody>
      </p:sp>
    </p:spTree>
    <p:extLst>
      <p:ext uri="{BB962C8B-B14F-4D97-AF65-F5344CB8AC3E}">
        <p14:creationId xmlns:p14="http://schemas.microsoft.com/office/powerpoint/2010/main" val="8525037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C08968-2BF2-4D81-BD54-20CA02E2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9FB284-44D1-4956-BD29-2B3B8A4B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CUMULATIVE FEATURE INVENTORY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B1F3E-3B04-4718-A76A-1728E726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 #1 Feature Inventory — Auth / 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5165D1-CDBA-40AF-AC19-72C97FC3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누적 기능을 기능군별로 쪼개서 실제 데모 지점과 연결한다.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194DE-1994-4B26-8771-AE0F5197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34AC0-4915-44BE-A581-4DECA937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04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29A2D-00DC-4825-8DDE-6ABD6F24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103822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4BB22-3079-497F-8FE3-3F8238B9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1038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13717-24B5-481E-AF38-F0215069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Category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ECE970-30A9-41F3-A845-14A5566E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811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3AA09-49F5-4D82-B8C3-0EDAE5F0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573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Sub-feature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A69B0-1291-400D-9B1B-5D7CC2F8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811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36035-0090-4A99-AE5A-E87ED963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573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22A4D3-500F-4255-9394-E2C15A63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6A11C2-0088-425D-9190-A8718676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573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 / Demo link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39552F-F568-48C0-B230-3A7B559B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Authentication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F9C65A-86E1-486F-AB62-90444AAC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04A973-DC5E-4D1B-B81C-F2BE35D2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Member registration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CD6002-9689-44AB-9A9C-19D035DB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812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B8752E-3E0C-4CD9-A6E1-B89219BE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574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1,4 UI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9EFC0-4CD6-4F5B-9D15-CD06D9D1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812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1B8788-CD28-4FD9-B09C-A4A0831D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회원 가입 화면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220CDA-5EBC-4606-A8E5-549D493C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Authentication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3420BA-A4AE-47BB-81EC-AD0890C7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812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BAF9F-BE7A-4C20-89E6-34A45240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574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Login / Logout (Skypass member)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594E6E-9389-4AC5-83FA-9759E778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5DE266-C838-4CDE-B4E6-E252A7E6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574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6C4F9B-1EE8-4F1B-82F2-4BBB55A1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CE684B-6107-4995-8044-C4A04CA6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세션 유지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A71A4E-8AD4-4EB9-BB16-7D76B639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Authentication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E9D2D5-A8D2-49C3-BC6C-FEB45C3A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ADD4B8-6291-4275-B569-B69230A2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5750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Member profile + mileage balance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71B2C3-F489-4804-8459-4D0D8700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813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5ACFF0-4A88-4FB4-B59D-EF416F10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29DBBD-D135-4EC1-A5B7-761A2389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0936B6-EF17-4ECE-BB20-9D710C48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57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Adapter demo precondition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98F57B-7413-41EB-8BFA-BC0263B0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Authentication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E0DC13-EE1D-4938-BB78-0413FD50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813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4187D9-8D37-4BEE-A9D4-E02E8FA3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575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Guest verification (PNR + name + email)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E721B4-4FE4-4F7B-9FB9-3CF9A10F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813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5F808B-564B-43E4-9252-978D946A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575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3B95AD-8CBF-4182-8778-74580728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813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94C86F-5E94-4F5E-B19A-B2BD9A95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575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Guest lookup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1F025B2-6C53-4871-99F8-1E2DF87C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Flight 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813930-5425-4DF7-8D80-DB7B8BA4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814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28F5A59-AEB7-4320-9956-DA2E9DE6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5760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Flight search by origin/destination/date/trip type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2C3CC0-BC47-4181-8AC7-ADB63361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814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A8B1D92-539F-4F49-91D4-0A389FEA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576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5B5B2-4354-40F2-BBC8-F50A515D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814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7611DC-6B01-4F7D-A9A8-4FC85A4B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576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SearchController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A2E1D90-B88B-43F8-AC9F-0497C0BC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Flight Search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27248F-A905-4948-A7BB-7219E9F2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814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97B584C-8D3F-4DB1-88D1-E663461A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576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Direct-flight selection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1488DE-A123-4454-9DC1-A736335E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814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015C1F8-E938-4825-87E8-F1999738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57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EBC38BB-C877-4859-A040-2A9F08D69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CBB1DF-0CAE-49A8-93B3-FBFC5948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576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direct booking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9C3A37-22E2-4F7F-BEEF-2D524BE2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Flight Search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016CE53-EE97-402F-883F-B26C79DD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815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EBEAB1-E73F-4B26-91D3-B3E0F375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45770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Connecting-flight selection with MCT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BF0B62F-EF65-4EAE-B98B-EC684A78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815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C0EC005-D0D8-437A-8CFE-62EBA09B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577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3,4 UI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0354C1-0D62-4811-BD8C-60FD3EA9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815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0ACFF93-8DF3-4D56-A7C7-3919790F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577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ItineraryFactory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9535443-59D8-498D-817D-20192C67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Flight Search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708C102-DA3A-496E-B8F9-F911BB53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815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1B9DFA2-ADE1-4C3C-8733-057DCAC1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577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Multi-city itinerary composition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92448D5-7AB2-4DD1-AF7A-5FA21569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815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FD8617F-D4F1-424C-A0A7-33BAE054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8577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3,4 UI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3B9B0E0-550B-4EF2-B6E0-BE77F638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815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CE397E8-6F84-432D-A4DD-5334BFCA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MultiCityItineraryFactory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D908416-7785-4C31-AD98-70815169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Flight Search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1B44363-9767-4E9F-9BFA-B1BE59B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816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E7B901F-C3E3-4959-A079-CF470402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25780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City-code search expanding to airports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9A5E1A4-E3B1-47DD-9630-5C1FAB86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816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27DDF00-8DF1-4294-A692-7022F402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578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9CD7BAA-6DCB-43C6-82F4-2467F2C5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816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DF05FA8-E605-4131-9A2F-40B9518E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578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</p:spTree>
    <p:extLst>
      <p:ext uri="{BB962C8B-B14F-4D97-AF65-F5344CB8AC3E}">
        <p14:creationId xmlns:p14="http://schemas.microsoft.com/office/powerpoint/2010/main" val="14171379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FEE517-F866-41DC-BE81-2A3D6AD6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3F944-D21B-4046-98E4-E4D39FCC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CUMULATIVE FEATURE INVENTORY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C6F04-439D-450F-B9C5-823EDE3F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 #1 Feature Inventory — Booking / Mileage / Ticket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6CAA7-4C54-4CD4-BE84-D3A1A697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예약 흐름에서 iter4 신규 DP가 실제 UI 행동으로 드러난다.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488B0-1DD9-4035-9E67-A47B0126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CC66B-A36F-4B68-9277-A1C2C2CC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05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D2C6A-52EC-4A85-B7C5-25371A78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10429875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6AE88-B6CC-467D-8C7B-BC1D7248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10429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39FE3-2394-4C66-84D0-0EC5A596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Category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7DDE9-AD46-44AE-9FDB-17D7B2BD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5240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85762-1B1C-49F0-BC45-0BECC0CE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600200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Sub-feature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38A4B6-E25B-45D7-B079-9A9DA227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5240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6C53C-26FA-4695-B514-BAEDDCD3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600200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546D0-B357-49E5-87EB-9BE44E7B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240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358421-742C-4A78-AFBB-1FAB4543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600200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 / Demo link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D7B5C-E9BB-4ACC-860D-CE7DE615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Booking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CC100B-CE91-4DBA-82FB-FEB3191F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8954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3D12C3-415E-4330-8E31-633E762B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71675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Passenger info entry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B92687-0EAD-4059-BB07-E3D43A20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8954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175639-851B-4C7F-9AEB-A1734E31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971675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78A01-5152-4FA4-ADA6-042F495C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8954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146E76-DF2E-42B0-9EFC-DF008D04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71675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Passenger screen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263CB9-D8B4-4D92-9295-36259689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Booking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D5154F-FA02-43F5-8CA5-AA0D0D12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2669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402BA4-8161-497D-9CE6-B062DAA2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43150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 selection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F6C72E-8E86-42C1-9453-B54E6A8A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2669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C172F8-48FF-4D4F-A90E-7D5AB13A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343150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0042EC-7B40-4ABB-B1E3-7AE2EDAB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669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8D5AE2-C546-45E5-B2B4-273CF538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343150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 screen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561E99-D218-4D96-959B-E48C12DD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Booking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20208B-4C22-4A92-A44D-192DC822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6384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23FBC6-C608-4FE5-B7A6-B3285536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714625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Seat add-on upgrades: legroom / lounge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CAE8AE-1C98-4E32-854E-AC4EB586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384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C78170-8F1E-401D-974E-973D0C99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714625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284950-6FD7-4191-8B37-85D9EF7A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6384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E7BE1-CAB3-4900-93DF-DA804D78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14625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C185C1-6A63-4948-9775-8B388A03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Booking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775ACB-EE1D-4EBF-8CB4-3875CFC0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099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3F77AE-BFCA-4A1B-9C5E-25B26EB2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086100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15-minute seat hold management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BE2CBB-0E65-42C8-A5A3-5FFDDD32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0099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BD52D1-D3A4-4DC8-9F76-2F2A12E3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086100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AE952E-840F-453F-9F90-26DFE6A3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0099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8A09FD-5EE1-4EC1-84BF-D93137C1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Observer / scheduler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52A54C-3D4A-45D8-BE41-E78CB492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Booking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20C05E-08D7-42C7-B192-2C09CBF7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3813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0A65BB-F780-4B20-A996-455B8398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457575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Multi payment-method routing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6B93D0-2B40-4CFC-A297-102B2B66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3813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F7335B-49B5-4BE3-8D1A-EC18FDB6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457575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6DFD8B4-665C-4930-B38D-52A7A1B7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3813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6EE61B-4A6D-453B-AEBE-4D421FB0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457575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E81AF4-B748-4305-ABFD-C2AAA39D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Booking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4D5ABCB-FEC6-42EF-B693-7E8FE822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7528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8433587-D0D5-456C-B20F-110AB7F3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829050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Auto-cancel on payment failure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6B6D17-BDD8-46CE-BB6E-28C83B60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7528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11E360-CEED-444D-9815-657D424F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829050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1DA1A2A-0287-49A5-8F50-20D18B94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528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E284C9-270A-4003-A905-D965A1BA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829050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Observer + State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7AB28E-7243-4A9D-973A-FD3EAD3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Mileage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577F918-4DD9-4C1A-83A3-FA7183A5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1243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2F39B34-8539-4D8C-AD77-C7294C18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200525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Mileage balance lookup via Skypass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B24E82F-D5C5-49BD-8FC4-634FD6A1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1243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928AE99-34B0-41B5-8BC5-63FEBC7F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200525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3,4 UI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15E1449-653F-4C2E-8F85-45023D46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1243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AEB8A87-E2DF-4C7B-92EA-BC0AE332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200525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6FE1D91-9E6F-414F-90A5-000E7E8A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Mileage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AC63075-8D6E-4B07-8929-2AD402B1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4958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F20AA2-FB99-4DB8-ABF3-4A4B6574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572000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Partial/full mileage redemption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A89739E-FC2C-456A-B7E8-643A09AC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4958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23193E1-C75C-4D94-BE2A-CF4D884A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572000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3,4 UI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3C88C19-D715-4604-94C7-E11DA16A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49580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D0BF1A6-4D04-4BFE-B2D5-C89CA56E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572000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Adapter + Factory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12FEADF-761A-4DCD-8C3F-F1EE960F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e-Ticket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AF41F05-D788-4D98-A56A-4B842788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8672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F602A82-D938-401B-9A22-1453DC3D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43475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Multi-format render: text / HTML / boarding pass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0BAD97F-5239-40D1-B414-36E47BDC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8672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FF52C51-704C-4052-A09F-C1753D17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943475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B0749A9-407E-434E-98EC-0789261D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86727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47B7E13-C0B8-405F-A6FC-FD808B9C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943475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Template Method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1A776ED-00D9-49F4-8E99-E3D7DDF6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Notifications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8839E1F-0146-45B2-9E21-C527F9E7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2387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D483C59-B229-4773-B943-C97E5DE0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314950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Linked bus-ticket offer on e-ticket issuance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1FFD2E9-F8AD-4823-97A8-BA827B60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2387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14DC640-F2AD-4DB4-BFE5-2DED1972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5314950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913B4A3-AC7E-429C-90E9-0D3283F5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5238750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E6AF5E3-386A-4185-8C14-EC0845F1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950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13941AF-5DED-4812-B683-D0F782D1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80022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Options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F691A84-E63D-4C38-8001-783FB440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6102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819B54A-4C28-4B51-A5EA-0E5708C9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686425"/>
            <a:ext cx="38481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Global config: font, currency, theme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1F1276B-E63C-4BAF-8B2E-1F3A88B8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6102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3853CF1-2374-4D32-BBD4-A33D6D60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5686425"/>
            <a:ext cx="8953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BF30A6E-8EB6-47E3-8BF8-664EF405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5610225"/>
            <a:ext cx="95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E511CC5-A914-47DA-8350-D0396527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686425"/>
            <a:ext cx="32766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</p:spTree>
    <p:extLst>
      <p:ext uri="{BB962C8B-B14F-4D97-AF65-F5344CB8AC3E}">
        <p14:creationId xmlns:p14="http://schemas.microsoft.com/office/powerpoint/2010/main" val="10500707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19A3C8-44BA-4339-812F-A5717A29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876FAE-B1F5-4FCE-9652-30DC0B81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EXTENSION INVENTORY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8356CD-F6F9-4D9E-AA8E-86FF71DC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 #2 Extension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8C588-47BE-414B-ABE4-B74E764A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iteration 4에서 완료한 확장과 의도적 후속 과제를 구분한다.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033EB-E089-42FC-9538-ACC1B274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E384A9-B99F-4FBF-A949-A47A4039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06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A9A34-43EA-4947-ACD7-A15A136A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0668000" cy="440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D8AD2-9B2C-41BF-8E02-526483EC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066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785B0F-E81B-4505-9590-415EA486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Base 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45F938-957E-43CD-AEDE-B6253BA4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049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E9651-DE0B-4875-9377-2E85ADE6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58115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Extension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8B54C-9930-46C9-B969-6AD85970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5049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F2875A-0A6F-4F25-A013-84DC837C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8115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Status in Iteration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15DE69-6E83-4984-B0BF-859C984F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Itinerary composition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2F809F-3154-4A9C-AF41-B2C541EF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9050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AAF98-B185-404D-949A-B233C387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8120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Direct / Connecting / MultiCity factories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8C7AFB-430F-45B0-BD5A-0B6F73AA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050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9C716F-093A-41DA-876F-F9B5E806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8120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DP#6 ItineraryFactory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AF634F-FFB0-46E6-85E0-2DCFD2AE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Options and Settings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65CD74-97A9-4B69-87D0-429411DC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050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DB35B8-D57B-4187-AE4F-D2EBD6CC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8125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Font, currency, theme global config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6D2CA4-2EA3-45AB-B383-7441DD3B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050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AEE69D-0337-40E6-8C54-CCFF76C8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DP#5 Singleton AppConfig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69CC5D-5D43-4ACE-9C0F-46E542BE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Payment methods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8FF908-0B40-483E-B6C1-B1630895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051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0B8A7-03A0-469A-BA9F-E37F886C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78130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KakaoPay, ApplePay, bank, mileage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623255-19E1-49C4-98D6-2766489C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051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20861B-9E74-457C-BFE0-1A7C67A5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8130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DP#6 Payment processors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64EEA9-24E6-4BCE-AB5C-29CAB8B9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e-Ticket issuance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41E4B5-EBD3-40D7-995E-B6D96252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50A0F7-7EF1-420E-9214-5DDEA290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8135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Multi-format rendering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499337-2B1F-498E-88CA-BE01199C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051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B47A55-6E3B-4A6B-80C7-C8DEE3C5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8135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DP#7 TicketRenderer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26981C-0C7F-4EDC-819F-F694BE71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External Skypass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8CF74E-1D40-4F63-8EE5-EED37E1D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5052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1BB0FB-C4C1-4414-9FB1-47E1ACC5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58140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Wrap mileage API behind domain interface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1AB522-34AE-4F25-9467-5BC72112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9282CD-D857-4E11-AD59-FA672D04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8140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DP#8 Adapter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E0AEB7-310F-4D8D-9947-F5CB9DB6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Seat selection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6AC688-412B-414F-82CB-B124A549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052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F25735-5F58-420E-805B-FD9B8085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8145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Per-seat add-on options stacked at runtime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2BD630-F339-4073-9096-4D0736E8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052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575D3F-4DBF-43DD-8407-D0BDA981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8145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DP#9 Decorator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41EF90-DC4D-4D40-BF1D-3B8740FF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Connecting 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3F349F-5CC9-4523-B2A6-C7D0ED5D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053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9FFCB8-1B65-4743-B62F-75EEE064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8150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Same-city different-airport grouping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FBC4AE7-A7A6-4557-92C5-0C9C807E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053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CF0B74-AD80-4118-9FFE-1D484300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38150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DP#4 Composite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4AFB8C-7228-4E2C-8B09-C9B3F7C4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UI toolkit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1B59988-EF61-412E-AB72-87F728E4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053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72ABDD-804A-4919-A36F-0BC9AEFE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78155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Swing replaced with JavaFX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FC35356-032A-49B5-9464-1FBCE1AD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7053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8E6CA63-1F9B-4615-8E48-A43A1D7E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8155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Done · Refactoring#3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A30633E-37C3-41E6-894B-B47F520D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Exceptional refund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CB952D0-8B04-4559-B22D-9533C3F2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1054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CD8CB92-0A4E-4683-BFC5-620EEFF5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18160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Admin review queue with approve/deny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01D6E2-78FB-4804-9BAA-8B6D7459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10540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754A56C-89CC-4027-BADC-BEF0557D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8160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Partial · backend auth stub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19E3F3-9FB5-4F32-AE81-72CD09DD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Mileage accrual / PDF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59913A3-906E-425C-8546-3C5E5731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054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099AD05-0A16-4232-AA75-3B717807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581650"/>
            <a:ext cx="432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Accrual and localized PDF download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054A4B6-9669-480A-9845-ACC2E399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505450"/>
            <a:ext cx="9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E11A6F0-48AB-4639-A373-E80BDB73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581650"/>
            <a:ext cx="3562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73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Post-course</a:t>
            </a:r>
          </a:p>
        </p:txBody>
      </p:sp>
    </p:spTree>
    <p:extLst>
      <p:ext uri="{BB962C8B-B14F-4D97-AF65-F5344CB8AC3E}">
        <p14:creationId xmlns:p14="http://schemas.microsoft.com/office/powerpoint/2010/main" val="21284623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3CD1D1-3909-425F-8CEF-A61D4630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D0988-F811-4ED5-BFD9-1CFA561C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R/DP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E636F-E09D-4A57-8D06-234BC249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 #3 Refactoring / DP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5CA97-DDE2-4A10-9456-97F1645C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각 iteration에서 refactoring이 DP로 발전한 흐름을 보여준다.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42B29-A9A5-4F2E-8A6C-882076B5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BA371-90EC-4814-8827-09CC7449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07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2029E-AFF0-421A-B55C-2FEBFF5C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04950"/>
            <a:ext cx="10668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513D2B-A451-4320-955A-D3565FE7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04950"/>
            <a:ext cx="1066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BFD85-5686-497B-8F69-499C301DC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81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A6991-E1DD-4B34-87DC-87B05B28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7A436-04F1-4E07-906E-C3B618DB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581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64FC80-F259-4B88-967E-B124B4F4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46F1F-CCC0-414F-BBF9-A44BB0BD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581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Where applied / Summary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D9D21-E137-44D4-BED6-524DB89C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8C1DFF-E7BE-4492-9E9D-E2783B95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581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포인트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417BEB-FC70-4B34-B3B9-EE1C74B7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962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09F0DA-1C65-46BA-B548-B3962148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97E9FD-D3C3-4C7F-9629-48AC18D1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962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DP#1 State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B6D29C-5FD8-4D2A-AC90-7D65DF7B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626A3D-2526-479D-9BBD-3A0765ED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62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Reservation lifecycle: State interface + concrete states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E4DE39-CEA9-4253-8DDA-A0003AEE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5E6B40-B3EC-46D9-8D41-A5CEB007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962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상태별 허용 전이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C7288B-6E6E-479A-81A5-DF243AEB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343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046570-AE73-4497-B4B7-E5A4FAEC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C459DA-9C5C-4A29-B326-7C01F965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343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Refactoring#1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FE9F9B-F1A9-4FCC-A40E-41986CDF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00F508-81EC-4D1E-A012-94B2805E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343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RefundHandler if/else extracted to RefundPolicy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66225B-E2CE-4193-937D-0C60AD48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28AAE4-998F-4ECA-9121-6F5BED86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343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Strategy 기반 마련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9C417D-EFD6-420D-AD61-FB52B7C5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724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2nd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E93E3E-79A2-415B-A991-8C80B650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5CF459-BCF2-4CB7-A3A8-7A8FD147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724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DP#2 Strategy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B2B508-7D85-4B22-A3C0-A9525F82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707936-C434-48BB-97BE-11AE2C22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724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Full / Partial / No refund policies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867392-12AF-4FF6-BAAE-8700D9AE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5A1011-28E5-41D3-8832-DC28C6C7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724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paid 계산식 분리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0BDD0A-0B99-4FE9-9C33-D9F7AB4F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05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3rd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00848E-F5B7-4F0B-B1E0-E9EC5508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0E0299-D5B8-41B8-96EE-ACC1E6BB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105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Refactoring#2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4F5B8C-52C5-4B4A-9C1F-478CC1A5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557DE0-172B-40BD-B251-A74146EA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105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Side-effect calls moved to publisher-listener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3E8B9A0-7D82-4168-9A9E-20EC1EE0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0B4D5AD-2CDD-4498-BA0B-66565100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05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Observer 기반 마련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EAE6D6-8838-4487-83F1-0EE577DB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86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3rd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330A1A-5A84-40C2-9B89-D48EC153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04D4250-54B9-401B-8657-AD579FCB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486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DP#3 Observer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BED598-7A9A-4D6E-89B9-6DC0D5AB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15CF347-33CF-46FC-AD33-2A148CC0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486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EventPublisher + EventListener + DomainEvent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CC28EB-8DEC-4785-80AB-DE90066C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1F03E2A-6DB7-4D63-8BD6-6B0B0BAC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486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1-to-N 부수효과 분리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9C802E-B395-4EB3-B5A3-4C1DD4A9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4th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1293F1-D555-4A04-96AA-6468D800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798285-35C5-4DE6-93A1-D71F3924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867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Refactoring#3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9224B32-98A1-4B72-BDDC-3A0A8096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9C38DD0-54DE-4247-B43D-17FCC4C7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867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Swing → JavaFX boundary migration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3D55DE4-ED72-4EC9-BCAC-A316301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831FE22-F8E5-47BF-9B1F-C1124B6A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67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Boundary 중심 전환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EFF89FB-F120-4F2A-A3EA-E8B250AE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48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4th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456131B-19C9-41E8-BB95-DADEEF90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0F64152-A0E2-4875-8FDB-BF1D5891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248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DP#4~#9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BD3032B-1B66-46FC-8EDE-7E126DB7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09CF49F-452B-4BB3-AFB5-B620BB06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248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Composite, Singleton, Factory, Template, Adapter, Decorator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619148D-9AEB-4F10-8B46-31531D7E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4913A86-E02C-4D85-9D64-C53C2E36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248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신규 6개 DP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4931EE-B53E-4042-883D-2C20E053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629150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Note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5C29D48-133A-43F5-838F-5C48D6E2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D47F3A5-509E-4DE5-AFB2-5C8CC465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6291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번호 정정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CDC6BB4-25DA-4936-9791-9D95F7E0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96EE81-6B31-48B0-8907-EE220EB8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6291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iter3 preview의 DP#4/5 계획 번호와 구현 번호 다름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DF53F40-3B43-4087-803D-5D1295E4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F3C3773-F78A-4303-A755-C7C3532C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62915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9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Composite=DP#4, Singleton=DP#5</a:t>
            </a:r>
          </a:p>
        </p:txBody>
      </p:sp>
    </p:spTree>
    <p:extLst>
      <p:ext uri="{BB962C8B-B14F-4D97-AF65-F5344CB8AC3E}">
        <p14:creationId xmlns:p14="http://schemas.microsoft.com/office/powerpoint/2010/main" val="86466275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29F419-792D-4A40-B790-B6B1FB62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7D0EA-94A2-4F37-AD55-95B9CCA1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ITERATION 4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B0803-AB22-4297-8569-5F4F13D7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4 Scope Overview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18752-0C28-46FA-AC53-4CDD2FFD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iter4는 UI 노출과 신규 DP 추가가 동시에 일어난 최종 통합 단계다.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9F3741-5E24-4441-AA78-C0CD8C87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6BA13C-51C0-47A9-AFC1-1B728243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08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1B3CC-F519-41DD-A7EB-7BD22317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762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78C72-1517-43DC-ADA9-D47FB6A6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B63481-679F-4EAB-8542-183EFE4F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41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한 문장 요약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67A2A1-24E1-4265-9E59-00D4F006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419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Swing UI에서 닿지 않던 결제수단 선택, 좌석 부가옵션, e-ticket 렌더링, 마일리지 결제, 환승 검색, 전역 설정을 JavaFX 화면으로 끌어올렸다.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D80DF-9000-419D-AF9D-278EA913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381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792792-918B-4952-AF3B-1BE543B1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484E1-0922-44F4-8BA6-B71FD07F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71650"/>
            <a:ext cx="403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동시에 추가된 DP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74674C-FF5B-49B8-A83E-730741C5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76450"/>
            <a:ext cx="403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Composite · Singleton · Factory Method · Template Method · Adapter · Decorator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기존 State · Strategy · Observer와 합쳐 총 9개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5DBA61-552C-43C7-ABFF-D72E5BE3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89535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46E1B3-9E7D-45F2-807B-CC571E6E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27A666-034A-4221-BF37-672CB86F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814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Area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F156EA-A735-4373-BE02-0D0FF245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052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DA3C5-795C-413D-A276-20F3AEAC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981450"/>
            <a:ext cx="2895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Iteration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AE98BE-7592-4FA7-818F-D97CF457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317AC-E17C-4B16-9AB3-E756F95C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81450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Iteration 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337B29-8DB6-40BC-A7CF-BDA7EE41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958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Main patterns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E9272-7502-4175-955F-37F896EE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4196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BAD4DE-1619-4D93-AA26-4BCAC7C6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95800"/>
            <a:ext cx="2895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BE7D6F-6837-498E-A7F5-E408DC04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196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E58DB7-70EE-4BD6-859E-A6A77634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95800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 / Singleton / Factory / Template / Adapter / Decorator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799282-EA24-4883-B0F3-9BC7EFA3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101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UI toolkit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6108CE-00CB-493A-9AC4-818A04EA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33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9E859C-357F-4243-978D-FA8F8238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10150"/>
            <a:ext cx="2895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Swing imperative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B6E5BB-B770-44B8-BD1E-0F649E47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933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59A760-08EB-45C3-ADF9-00D3E666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10150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JavaFX FXML + CSS + MVC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F9BB23-7A5E-4804-9CC3-C631A851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5245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Patterns exercised in UI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257272-D3C8-4075-87F9-315F6F82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448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FF0185-9DA4-4C8B-9EDC-4E98A471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524500"/>
            <a:ext cx="2895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State, Strategy, Observer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4E6D11-8B5D-41F6-96C7-A859FA75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448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1B52DB-DDF1-44FC-B94F-421C3F98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524500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All 9 patterns</a:t>
            </a:r>
          </a:p>
        </p:txBody>
      </p:sp>
    </p:spTree>
    <p:extLst>
      <p:ext uri="{BB962C8B-B14F-4D97-AF65-F5344CB8AC3E}">
        <p14:creationId xmlns:p14="http://schemas.microsoft.com/office/powerpoint/2010/main" val="133066393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C83D17-3CF6-46A0-8699-C0405C3F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2C54A-F51D-4053-86C0-1C128637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CHANGE FOOTPRINT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22A2F3-F2A5-4D85-A98D-B9EEE72C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4.3 Code Change Footprint — 정정된 표현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EDEFD-D360-4EDF-A0AE-21F85398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Google Doc 표현을 그대로 말하면 오해가 생길 수 있어 실제 코드 기준으로 표현을 다듬는다.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0E610-410C-49B5-BB2F-5396129B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4B098-09DD-44B8-AC8A-8281C79B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09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4669D-2ABC-4500-BA6F-38137D79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99060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6CDDCF-EC97-4460-8FA0-DB41BDA2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B0D982-A4FB-4DE1-85B5-061E2ADF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Layer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1D6B2-5035-4AF4-A72E-02197E67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19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15FAA0-F619-4E3F-A696-96E4BA20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6954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Google Doc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1CA4B-FCD4-413E-81AB-415A58B9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5DD1B4-0E68-442D-91CE-44A3EB85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954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발표용 정정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7B3B8-297F-427B-BBBC-8AF27DE1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Boundary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1F396-5AC4-47D3-9170-D61DFD4B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71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51D42F-FD36-420F-8416-BAA6D66B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4790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Swing 19 files removed, app.fx package added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F5F98-F5D7-4A37-A044-CF6F60AC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71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0CFBFA-62A8-4AF4-9C8F-E941A919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4790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맞음: JavaFX FXML/CSS/controllers 추가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AEA6D3-F396-4F25-A9CB-891FD834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5572A9-4334-4995-A974-B30354D4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24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76FE27-847E-4B93-84BA-C6A89491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8003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confirmPaymentWith, initiateConnectingBooking added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2477FB-F847-42D3-A1F8-8C9B6DA1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24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AB65BD-0FDD-41C1-8ADC-31F61477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003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맞음: UI 노출을 위한 thin glue 추가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CDFDA7-0DD8-41E1-9027-097C3E65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Domain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3CEB93-9896-4213-BA92-6D5D68B6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76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7C0541-40F2-472C-90A5-8947D5D9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5280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Unchanged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CADFBF-6F9C-4375-A290-456FC70E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489863-56FA-4129-AE77-3B57444E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5280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주의: 패턴 클래스는 Domain/Control에 존재. 'UI migration이 패턴 구조를 깨지 않았다'로 말하기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FA0A42-9D1F-42FA-8DAC-B3F90632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0525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Build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C554FC-A237-4012-8F07-0617F622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29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8F10DF-AE6C-45B8-B468-349E2F44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9052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pom.xml, mvnw added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67ED06-4571-45EE-9038-F4FDD460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29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819CD5-FA6E-427C-90DC-DB008936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Maven + javafx-maven-plugin 기준으로 실행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BAA5B4-917B-46B9-869C-AF3534DB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781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F086AD-9197-4B24-8FEE-3F3BB129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9F4D89-67AE-4752-8581-8B5E9E58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105400"/>
            <a:ext cx="746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권장 발표 문장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2DAA10-2BD7-4515-85A9-66FC99F4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410200"/>
            <a:ext cx="7467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2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“UI 전환 자체는 Boundary 중심이었고, Control/Domain의 핵심 패턴 구조는 보존했습니다. 다만 iter4 신규 기능을 노출하기 위한 얇은 control glue와 패턴 클래스는 추가되었습니다.”</a:t>
            </a:r>
          </a:p>
        </p:txBody>
      </p:sp>
    </p:spTree>
    <p:extLst>
      <p:ext uri="{BB962C8B-B14F-4D97-AF65-F5344CB8AC3E}">
        <p14:creationId xmlns:p14="http://schemas.microsoft.com/office/powerpoint/2010/main" val="27148693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CA87DE-D30C-4966-B09E-C37A9D50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1F0E9-DEE0-47FE-9E35-D3D4A75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SWING TO JAVAFX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D0443-D142-446B-BBFD-A5AF5DA6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5 UI Stack Migration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A6A93-F848-47B4-95E2-D37DEB6F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FXML, CSS, Controller로 화면 구조와 스타일, 로직을 분리했다.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7F90E-0931-4060-BB52-FA28A8C1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2020B6-F54B-4959-AF0F-FA64B8B4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10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15A4A-6E0F-4612-B731-7BC3097D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3835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12383">
            <a:solidFill>
              <a:srgbClr val="9AA4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BC3B8-AF25-4774-8044-3106823F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383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9AA4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8904CF-1523-4274-BA37-29899C6C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14550"/>
            <a:ext cx="1943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Swing 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8CF5B-7841-42AC-A89B-75CCE98C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190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app.swing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imperative layout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9414F-8A75-49FA-A9D1-2BEA7C71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209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8A5EF-CFFE-4FBE-9A22-E432483E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90825"/>
            <a:ext cx="19050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GridBagConstraints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style mixed with logic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222693-63FD-4735-AC4B-F25773E1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DE64D-CCBE-4A8F-BCB3-8C2C0513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FDBC71-42F1-4F27-9EA8-2D749682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85950"/>
            <a:ext cx="2228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JavaFX new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B83F2-5DA0-4894-ADA3-25731B22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9075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FxApp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AppContext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Navigator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ShellController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97BF11-2766-41FD-8643-1DBB3727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813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08FA9F-9C70-4E60-8899-F73AC563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28925"/>
            <a:ext cx="219075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13 controllers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FXML views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app.css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73331-E044-4A4B-8D2F-526F16D4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3835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00A87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A44D68-9E69-4B1C-A5DE-5138CD12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383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00A87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A4377-8EBE-46E6-BF37-CECF8196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114550"/>
            <a:ext cx="1943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 Guide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D32687-AB30-4B2A-91C8-33A0308F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1935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pattern-guide.fxml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18126F-20B4-4818-873C-026E74A6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09850"/>
            <a:ext cx="209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69EE98-5404-4AEB-A460-678FD4B2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1905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DP role map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code skeleton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FB3EB6-8BEF-40D2-8311-E2BBB3AF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BF0954-F0FC-45D5-BA2D-8E8F4FDC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4479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26B350-0D23-4B06-B1A6-BF9C8A11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907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replace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550C67-9197-4FD5-9E70-C3C54E31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90800"/>
            <a:ext cx="177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3"/>
          </a:solidFill>
          <a:ln xmlns:a="http://schemas.openxmlformats.org/drawingml/2006/main" w="0">
            <a:solidFill>
              <a:srgbClr val="00A87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901E32-82F2-41D3-BE43-B10294D9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4479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5E7969-2129-432D-B152-03072C19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3907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rPr>
              <a:t>explain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44B6A2-2523-4306-84F1-6CD7D2F9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91000"/>
            <a:ext cx="8763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75B260-EEBD-4899-9B20-B0B3B81D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9100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70CEE9-5397-4AF5-8F1A-C7B092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672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구성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079C88-085D-48B9-8316-E800D1A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1910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B9F1F6-EEE4-47A7-B687-80D4D5B0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267200"/>
            <a:ext cx="6324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포인트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2FC73D-51CA-496A-B535-9E1151A6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863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FXML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549C44-49CA-42B4-800D-3790EFFA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101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1B1110-C56B-49DD-934C-E86ED43C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86300"/>
            <a:ext cx="6324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화면 구조를 선언적으로 표현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ADB70C-0B1D-4D6A-8BA1-EB2843C9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1054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0CCE65-4221-4216-8C8B-45FC2B99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0292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5FB515-9F81-4BCA-9614-2EC57F3C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05400"/>
            <a:ext cx="6324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대한항공 light-theme 스타일 분리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A7DDC7-8F98-43B7-9996-72AFA77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5245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Controller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C43224-6311-4952-BBAC-35DA5A20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4483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701F5DD-6B4A-4113-ACC1-0B9026F7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524500"/>
            <a:ext cx="6324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화면 이벤트가 Control/Domain DP 호출로 이어짐</a:t>
            </a:r>
          </a:p>
        </p:txBody>
      </p:sp>
    </p:spTree>
    <p:extLst>
      <p:ext uri="{BB962C8B-B14F-4D97-AF65-F5344CB8AC3E}">
        <p14:creationId xmlns:p14="http://schemas.microsoft.com/office/powerpoint/2010/main" val="146171060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E262C6-23AE-4A00-88E1-CB46B27E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AFD24-59BE-402A-AA63-7A13B4F9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DEMO TRIGGER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EC37C-A69F-4EA9-BC24-CE102E02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6 Feature Breakdown — Demo Trigger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B6927-141D-4F1B-956D-5A9109EB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각 신규 기능을 어떤 화면 행동으로 보여줄지 미리 고정한다.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73E46-2F14-46CE-969E-3350AC7C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D8859-4842-4DD2-9DF2-5FFB6457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11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02608-1E8D-46EA-A050-28E33552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04950"/>
            <a:ext cx="100965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77F417-AE75-4BDB-91B5-AA066BE8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04950"/>
            <a:ext cx="1009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843B2D-5D3A-4F42-AEE9-46524EA0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5811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#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55F98B-F31D-4899-91CE-E1AA1ACB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5049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23228F-CF09-4E8B-96D6-25ED6CCF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581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Feature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B8F7E8-940A-4CDA-B937-D43A4796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049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B5E327-F551-4003-A91E-9F16E510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58115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Demo trigger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1FA16A-E89E-4BD5-B496-35D4B1BC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5049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16452-C26B-4A2D-9277-7750D416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58115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EA921-9423-484D-AD64-FA738858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1930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989A1-CFC6-49CF-AB81-E64D9ADA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431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C3E9C4-6513-458A-94E2-4E51366D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0193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Payment-method routing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04DAFB-15D2-459C-A9D1-E32E21C1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9431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C52055-50CD-4D78-90C3-8534751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1930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Choose a method on payment screen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02717F-D32D-456F-A50C-9152FA8A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431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0637F7-290B-4239-9AB0-E2EDB9B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0193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CA2A46-A26B-40F8-8098-932E343A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574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174E75-263E-4868-95DC-B38DDE4A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812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4C4E92-4554-4053-8B6B-0AF8D3DE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457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Mileage balance + payment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ACD209-E79E-47AD-A134-3E510DB7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FEEB45-4987-424D-BF58-DAD196AD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45745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Member payment screen shows balance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3DBB4-7BE5-48D3-A0C2-2D4911A7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812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2361F8-9A70-4141-8040-4AD7CC92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45745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556238-FEE1-4D00-946F-3FEBE51C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9560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B755FE-9C2F-425B-83D3-10B98A86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194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640C96-DE4A-4230-A278-62AE31F5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956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Seat add-on surcharge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6E4079-0990-4DFC-948E-E0E54529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194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DE8E9B-37F5-45A1-8F59-73F59BB6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89560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Tick legroom / lounge on seat screen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29A18B-9B0A-4CB4-9B60-9803D756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8194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012387-B1E1-44EE-9EA6-FAE7DD97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8956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FCDE3F-C0F4-4CE8-B625-57AB125F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3337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A366DC-93C4-469D-AB0C-9768ED29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57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C238F2-3AB5-4206-BD3B-CC106AD3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3337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Multi-format e-Ticket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09085C-422F-40CE-ACF3-A5E520CF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57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17CDBB-1A96-4C55-BB6B-2F7B3168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33375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Toggle format on confirmation screen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D02DFD-C183-4A79-950D-EB3FACFE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2575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D6D5F0-1F5B-45F5-AB18-74FC09FB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33375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Template Method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13B300-9FA1-4B6A-8BAC-A4606B34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77190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9FA069-4F93-43FC-B19C-97070236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95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3D4D8A-9AF9-4BED-B18C-7CAEC8DB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7719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Global settings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9EE965-74A0-43E7-ADCB-B55C8DFE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95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9810426-1AD8-4D6D-AE3B-DEB2A163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77190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 font / currency in Settings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A12030-E2AE-4629-9498-9F3C115C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6957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78CF58-4AD2-474E-B653-B9E69F59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7719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20EB472-F7A5-405E-9976-94894E51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2100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BB49CE-484B-4342-8531-94603EFF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33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3BE54A-60A5-43BB-A126-332A2B0C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2100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City-code search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915628-53C3-4DD8-84F0-BB8FB177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133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E00C079-AEAB-4F5A-8D39-34CEFFD3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21005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Search by SEL / TYO / NYC / LON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CA95B9-ECD4-46F9-BF73-8EC1E0F9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1338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D09A920-A243-4D05-B6BD-7EA44E70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21005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37F8B43-C2FF-4468-B151-2CF15331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4820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227D31-F58D-4077-ABB3-CF12EC43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720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1F5F7CF-D240-410C-A817-CEF78042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6482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Connecting search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67183CD-B70F-4B26-B2C5-33286F7E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5720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BF5FE7-78FF-455F-9B33-E98AF359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64820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Tick include connections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C18B470-A87B-460B-BF65-A8353F69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720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DF55A90-D351-4E6E-B44A-654D10B2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6482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502F811-F137-4B58-A530-1C4BE422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0863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DA9026-1DE6-4B4D-827E-549B516C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101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675C68-AF8A-4CB8-A7A2-F0E8682B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0863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Manual refund review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81ABDAF-78D6-4C7E-A9F0-6B252347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0101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73FBE74-9688-47BD-9AAB-AFB1BB56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086350"/>
            <a:ext cx="394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Request review then approve / deny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7A3764C-350D-46B0-9341-CFC348BC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0101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A64D54F-18B1-4D3B-8D80-BC60BF79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508635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Strategy</a:t>
            </a:r>
          </a:p>
        </p:txBody>
      </p:sp>
    </p:spTree>
    <p:extLst>
      <p:ext uri="{BB962C8B-B14F-4D97-AF65-F5344CB8AC3E}">
        <p14:creationId xmlns:p14="http://schemas.microsoft.com/office/powerpoint/2010/main" val="8016832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2BB1AC-9619-4DAB-8CE7-9550ABD1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441EA4-1C29-473C-B6BD-46034C13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UML / BEHAVIORAL DIAGRAM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2ABE0-80C1-4FD6-95A6-2E02ECE4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7 Diagram Set — deck에서 보여줄 그림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FE027-35A4-49C1-8F6A-6A074826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Google Doc의 diagram placeholder를 실제 발표 장표 흐름으로 옮긴다.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F6C4C-FEC4-48E3-BD4F-C330891F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D657F-5E73-4685-9D46-8530746A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12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9C2F3-67A8-4D5D-B6B4-3BDBDEE9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81150"/>
            <a:ext cx="9906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59E95A-7FCC-41BC-948C-FB1A5571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81150"/>
            <a:ext cx="990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DE8266-318B-4104-925F-9F350313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Diagram group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F307F-D01E-4517-BB2E-BED5CD44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30F85-8E46-419D-80F6-C40EB86A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57350"/>
            <a:ext cx="299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Deck representation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B72E26-9214-448D-8526-DD31DCC5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811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6C001-3D9B-4BCF-9727-F66A3117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57350"/>
            <a:ext cx="3657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설명 목적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34B5DE-8645-4D39-A415-E5E96D22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3360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Full cumulative class diagram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BC048-F036-4B2F-A88C-C8EDB50A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574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C733A2-2A23-4438-A5CC-F719B7E4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33600"/>
            <a:ext cx="299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macro architecture map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388E4C-D69A-4BF8-9DB4-C15E2827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574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E4AF-37B1-4D4D-BB4B-A05A207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33600"/>
            <a:ext cx="3657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Boundary/Control/Domain/External 경계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C6D1EE-F9C7-45FB-A46C-5A677B13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098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Per-pattern class diagrams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78B406-E3A0-4E9A-9581-D7378539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336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31EC5D-FA57-4289-878B-636145AE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09850"/>
            <a:ext cx="299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DP#1~#9 reference vs team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5A504-C5C3-4592-AA0B-0F0CB7E7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53F07C-944D-47A1-9527-4E2706AE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09850"/>
            <a:ext cx="3657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교과서 역할과 우리 클래스 1:1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5A228A-ADC8-4FE2-A3FE-ED60AF2D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Use case cumulative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419ACC-4EFA-45FC-9B1F-3E2118CF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099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AFA001-5166-425F-98FB-16842E4C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86100"/>
            <a:ext cx="299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red-marked iter4 use cases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8637EF-FED3-40CF-A5BC-5A5C7A07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99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7E918C-9A39-4C17-8868-CBD4D1AA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86100"/>
            <a:ext cx="3657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새 UI 기능이 어디 붙었는지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6B540-D2D1-4F61-95EE-051BE059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 diagram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03C327-7689-4551-B447-A50AD4F1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861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982DAA-CDAD-4F7B-95FA-CE121822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62350"/>
            <a:ext cx="299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admin refund-review transition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1908E0-2A7B-4637-8D46-54AE4052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68AD4D-0CE3-44F3-AB27-E1B0EFCA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562350"/>
            <a:ext cx="3657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iter4 review queue 흐름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8E1A7B-AC69-4F21-A185-565A14E5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3860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Sequence diagrams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64E4CF-BDB9-4E10-8451-4DB3381F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624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918FCC-80A4-4556-B395-4C951A4E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38600"/>
            <a:ext cx="299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Adapter / Factory / Decorator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AB3571-9E3B-453A-9C72-EF5AE7D9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62400"/>
            <a:ext cx="95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D39F7B-8483-4FD3-9332-7F960756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38600"/>
            <a:ext cx="3657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실제 화면 행동의 호출 순서</a:t>
            </a:r>
          </a:p>
        </p:txBody>
      </p:sp>
    </p:spTree>
    <p:extLst>
      <p:ext uri="{BB962C8B-B14F-4D97-AF65-F5344CB8AC3E}">
        <p14:creationId xmlns:p14="http://schemas.microsoft.com/office/powerpoint/2010/main" val="66652951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9F5AA2-DB2B-4282-A9E0-AA5A284A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658F9-8A33-4502-AD79-F7C2887F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FULL CLASS DIAGRAM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D28BF-3A1E-4079-8F64-59425F41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Cumulative Architecture 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AF486-84B9-4DF2-8331-59E59FDD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전체 클래스 다이어그램은 너무 크므로, 발표에서는 경계와 DP 위치를 먼저 보여준다.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73B6-A479-4DE8-9091-75B824B0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FDC3C-AC34-44F2-BD78-4F11A2BB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13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D85F62-D758-4481-A9A9-460C1229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7165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08E3A-FE93-482D-8DF7-5DB72932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716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EAEE1-0DD7-4D0A-9934-8E88C938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Boundary · app.fx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59F5E-F8D9-4FC8-9EFB-404ACCA7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FxApp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Navigator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13 Controllers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BC91E1-A5C8-4702-A83D-A26011DD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219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581612-E378-4C4C-A3C8-1DC2583D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2000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Search / Seat / Payment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Confirmation / Settings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1FBB8-B404-4343-BFDB-E22FC495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62100"/>
            <a:ext cx="2857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F95214-AC34-4D3B-9BF4-232D6AA6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621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E6198-1E69-45F2-84DA-8A4B4FEB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38300"/>
            <a:ext cx="2705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A94DFA-E8BF-4197-9681-A99CF69B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4310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BookingController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FlightSearchService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RefundHandler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BusTicketingService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4009C7-68F2-46F8-B282-2FA931E3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3365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0DAB44-D7C4-4EF9-AA45-D8E4794D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81275"/>
            <a:ext cx="2667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Factory / Strategy / Observer 호출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92E966-9B53-4008-B37B-3BF23142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62100"/>
            <a:ext cx="2857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00A87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B0868B-E94E-4BE0-95B7-A221798D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621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00A87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974CB7-2D4E-4638-9A87-85DD912C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38300"/>
            <a:ext cx="2705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Domain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579812-EBAE-407A-A49C-E4454D11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43100"/>
            <a:ext cx="266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Reservation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ReservationState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AirportLocation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SeatView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Payment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1A86A8-9B1B-41AA-B5F9-DC9E4B13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670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0741F9-D08A-4618-A7A8-65F7EB00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14625"/>
            <a:ext cx="2667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State / Composite / Decorator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18DD96-48FE-4DFC-AD90-0DF3E641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1480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725C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CDFA41-8F11-4B02-BC32-0A96093D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148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725C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AA059B-2FC1-4C23-AF47-A4739865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91000"/>
            <a:ext cx="2705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External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0D65F5-815E-41CC-A70B-4F3FFDF3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958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RemoteSkypassApi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PaymentGateway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47D715-C525-4699-A5D3-00562617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1965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7BF6A8-BF72-40F7-A222-DB34C14C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67275"/>
            <a:ext cx="2667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Adapter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Gateway auth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E38753-3CFC-4458-88B2-36AE0068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8125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0D4752-2CD5-4F9E-A61C-D0EE3288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2383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43CBBB-D38F-4E7D-85A4-26D1FEF8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1812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UI event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A4C37B-9364-4B59-A6C5-CFBD8E07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3C22F2-6B37-4A58-A6C8-C8C79B98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383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E26F21-202F-4C06-914B-A83B4333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1812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domain model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D08E06-C115-40C8-8F50-DAE92F70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00400"/>
            <a:ext cx="19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CFF"/>
          </a:solidFill>
          <a:ln xmlns:a="http://schemas.openxmlformats.org/drawingml/2006/main" w="0">
            <a:solidFill>
              <a:srgbClr val="725C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46F86E-C5C9-45CB-B81E-7B2266A5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433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25C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725CFF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E69A07-9D10-4891-B6DD-87A598DF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58140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25C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725CFF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FD2CA9-175C-4877-9058-5F4AC085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14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 위치: State/Composite/Decorator=Domain, Strategy/Factory/Observer/Template=Control+Domain, Adapter=Boundary</a:t>
            </a:r>
          </a:p>
        </p:txBody>
      </p:sp>
    </p:spTree>
    <p:extLst>
      <p:ext uri="{BB962C8B-B14F-4D97-AF65-F5344CB8AC3E}">
        <p14:creationId xmlns:p14="http://schemas.microsoft.com/office/powerpoint/2010/main" val="3400761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AA2926-3100-4566-9BFD-080B4564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ADB81-26E3-4203-A901-68E8A3EC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BEHAVIORAL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ED0AE-1692-481F-A58A-66E607E3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Use Case Diagram — iter4 red additions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ED427-0D7F-4FD1-9BD0-A62007C4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실제 다이어그램 대신 발표용 use case grouping으로 빨간 신규 기능을 표시한다.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46E3-ACD9-48D7-871E-678A4502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E37DE1-026D-4243-8EA1-FC1015B7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14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EC609-3305-45E4-A897-EC689BD0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5E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1248B-D7E8-4BA9-A015-6CBED2C1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62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Search flight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CA7C3-46F9-4231-B0D8-09B583EF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002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5E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4974C-48B3-46D7-ABC8-241A3E8C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62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Select seat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CA024C-EFE0-47DB-A516-02C3E377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002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5E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98F4-F31C-4EAA-A67C-D9D44CD7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62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Payment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79635-BED9-467A-BBEB-B6530590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002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5E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6AC0E-6D3C-4C51-903E-D3BDEDF9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62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Lookup reservation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FC10A-9F5D-4D82-9C11-1F1454D3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A6DC6C-9EA9-4AD6-B61D-E7902CA1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289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City-code 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C85310-E3F5-435E-93AA-70B508EB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A9FE9F-B34E-41BB-975A-74C37456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289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Seat add-on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C7DD6-D6B8-4766-B68E-C6DF98E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670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234FDF-886E-4C31-A0E4-F1FCEFD9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289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Mileage payment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45D937-481A-4949-8790-64609730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8DE0A8-17BC-4472-A31D-41BE070E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289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e-Ticket format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6FBA2A-0568-4AE0-B100-D8D2BAB4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3BB57A-6570-4509-B0B4-50642BBE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957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Global settings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A53D49-DED5-41A2-983C-B94FF046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33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6A4801-72B2-4417-931F-F4C4F1F7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8957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Manual refund 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019736-826E-4DC3-91E6-FF3678E9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33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F2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F4185D-AA74-40C4-A9E8-F31649D8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957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Pattern guide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D0CB48-A9B5-4AA1-A2D6-827FC296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8005D9-4F74-47F6-8DD3-A97CD495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C7D222-AB9C-4C73-A19E-AB4BFD77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72100"/>
            <a:ext cx="689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포인트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B425E8-3CB5-4653-90AD-C8A0F88A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67690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파란색은 기존 예약 흐름, 빨간색은 iteration 4에서 UI로 새로 노출되거나 강화된 use case다.</a:t>
            </a:r>
          </a:p>
        </p:txBody>
      </p:sp>
    </p:spTree>
    <p:extLst>
      <p:ext uri="{BB962C8B-B14F-4D97-AF65-F5344CB8AC3E}">
        <p14:creationId xmlns:p14="http://schemas.microsoft.com/office/powerpoint/2010/main" val="55232385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AA8725-125F-4658-8B5F-E71DF44A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F4CED-D08B-4A43-A003-45A525A6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BEHAVIORAL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B8837-81EB-4CED-9F2B-8E183BA8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 Diagram — admin refund-review transition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77538F-5D9C-43B7-8EBF-0A80F731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새 상태는 추가하지 않고 RefundRequested에서 승인/거절 분기만 시연한다.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D5180-C496-4FB0-BFD1-F1825A02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2A222-B02F-418E-B14E-50BB1F4B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15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8B763-9AB1-49BF-85C6-FC66D85A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4A268-68E2-4A77-901B-581BAF57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61FA4-4981-443B-805E-15C2D6DB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45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Initiated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5BEA00-1E73-4F82-B75C-E7F61223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38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AD0A97-FCE1-4DFD-BF7D-8A42C3C0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38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95930E-B94D-4CC1-8902-6D24408F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145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PendingPayment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7DC84A-682F-44DD-A2B7-B5EDA17F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38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FF3BE8-E8F1-47EC-B9ED-D682E464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38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82260-3916-4C8C-A813-688AB815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145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Confirmed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52102-6637-444A-9441-0F402E68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38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74267-ECD0-4CF7-8C43-98D5BBE8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38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FF047A-C062-41A9-A1E6-ECBA3A9A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7145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Ticketed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451CCC-FAB8-4183-810B-7E8B769C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26531C-B09F-456C-B763-5A1743CC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6B537B-B51A-4BF5-8D56-8B0E7D18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CancellationRequested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C85E7C-3DD5-45FF-923D-013433CD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670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FD4980-A298-4310-A497-969CDFF8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670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7D7C7A-7E12-486D-BF48-50CF9950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432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Cancelled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51FC8B-C909-4C70-94A0-EFBDF04C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70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82E0AD-0830-4A82-A880-A799FD66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70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735ABC-C78B-478B-85EA-B68E39AB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432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RefundRequested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D3DA67-0CF5-4E25-ACC9-CDEBDCAB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670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E10D86-D21F-404A-B910-9264C7A2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670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F9FF09-5114-4FA4-A61B-F7EC4152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432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Refunded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186DB1-D93A-40CD-8AC2-D15FB882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91452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96FCBB-C020-4907-8A14-F48C4163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7716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59403D-0B7D-4B8E-9381-A3FC75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91452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F6EE7D-D2A1-40BD-92A2-9BAFC098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7716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688775-9934-47BB-98C6-A2F1882C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1452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677631-A166-417E-BBA8-D312189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7716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8D4C16-65C6-48A5-B3C9-71392670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90750"/>
            <a:ext cx="19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A0A85B-7CE7-4C07-BBD4-F6A6D46C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95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E5ED3E-53B0-4D10-91D1-EAA4EEBE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cancel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27799E-B65D-4C89-BFCE-6ED7A1CD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4327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365766-2BA4-432D-A22D-E8BF8853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2004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E583FB-CBDC-4965-AEAD-E874ACCC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14325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approve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BDB34F-C4C0-44AB-9815-146CE158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8667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87B257-0163-4EF0-96E4-4C62E0D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021A63-0B35-460F-B8D4-3BD6D842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72100"/>
            <a:ext cx="832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139371-56CF-4C0B-8F1E-A9A82CCA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76900"/>
            <a:ext cx="8324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예약 조회에서 취소/환불 요청 후 review queue로 이동한다. 승인 시 RefundRequested → Refunded, 거절 시 Cancelled 복귀를 설명한다.</a:t>
            </a:r>
          </a:p>
        </p:txBody>
      </p:sp>
    </p:spTree>
    <p:extLst>
      <p:ext uri="{BB962C8B-B14F-4D97-AF65-F5344CB8AC3E}">
        <p14:creationId xmlns:p14="http://schemas.microsoft.com/office/powerpoint/2010/main" val="60775041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FA9342-0CA7-412F-89B9-ED3DD937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2229B-E228-4DDC-B860-646B2D20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SEQUENCE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EAD40-74B5-4DDA-BEBF-75A4271A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Sequence — Mileage Payment via Adapter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27CE94-7203-4F0F-9919-CDC4B0CC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Payment screen은 SkypassInterface만 알고 외부 API raw Map은 Adapter가 숨긴다.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0347E-4B15-43D3-A1F6-4940FEF5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4FC32-B711-47DB-B061-B7C15A4C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16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93303-7994-4AA6-9EDD-7C63701F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4286B-EB10-4DD9-B6B2-7D654E27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827AF-D1D4-452B-84C6-808082F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PaymentController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8219B-5711-410E-A316-1BA9E744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30FB5A-C8CA-4875-A3E7-DDCEBA84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1925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002FD-AB4D-42F2-A9EC-893BC17F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19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39363-C696-496B-9170-DDC76A9F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SkypassInterface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D8110-BE4C-42DC-95A5-05DE0AB8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477A20-67FE-42EF-BFA0-403CDF47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75F656-B0AE-41C3-95B3-E4FE4E70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681956-218A-46C2-81EB-7E1C0945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95450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SkypassAdapter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CB26C-109F-4E6C-8CD5-43BC7663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BAEE8C-98E3-488F-94B2-8A68F694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1D5641-AA8D-43EF-8EA6-441C4B36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AB4E4B-F63F-4F83-BC0F-38A94C56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95450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RemoteSkypassApi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EEE83B-C5D3-4A7B-A5C7-9F9AA345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D1E23-0EFF-42B7-B2C1-C56294BC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1925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AE603D-DFB4-4F63-A4EC-D4E770F9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19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63830-A4E6-4776-9F56-66C4084C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95450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MileagePaymentProcessor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E1CC56-FEAD-443D-BCA1-42FED61F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BA49B3-4CFF-471E-B77D-F14D4821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4765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155B22-B722-4211-8E45-400569D8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336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363E93-19AE-4A85-8FAF-ADABDDA1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764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getMileageBalance()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FCEED9-2F19-420C-8750-69B644B0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905125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780D87-7DEF-45AE-9DD3-F988220D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622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3F63BE-3F18-4797-90F2-7480E1E7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051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getMileage()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9393C0-55A2-4F8B-AC62-D96C1BBD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333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1DE2BE-B075-439F-B37D-C840F0AA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1908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98B249-087F-42DA-820B-BB217E24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337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balance Map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28ED6A-2FF9-40F8-87FC-2F04F535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762375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874897-F646-4DE0-87F0-86F3A092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195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8BBFC4-ECE1-4394-A966-944A85AB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6235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int balance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553917-17F5-4064-9B90-5C7A9EC9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191000"/>
            <a:ext cx="876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915A2A-04EF-41FB-8C70-FD82E381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0481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3A7A84-A802-4E86-BA14-E9110D81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9909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processCharge()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39363E-D1F3-4013-9C82-3462B8D5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619625"/>
            <a:ext cx="657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289135-7F4F-4ADB-9635-BB2E0251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767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A85A86-4D54-458D-B99F-9D73726B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19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deductMileage()</a:t>
            </a:r>
          </a:p>
        </p:txBody>
      </p:sp>
    </p:spTree>
    <p:extLst>
      <p:ext uri="{BB962C8B-B14F-4D97-AF65-F5344CB8AC3E}">
        <p14:creationId xmlns:p14="http://schemas.microsoft.com/office/powerpoint/2010/main" val="8493141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8A549B-2DDA-4B8A-80D1-45DECB54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CD2B0-CE44-4BEE-B376-061A9F65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SEQUENCE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099223-1063-41FE-A93B-B19D6392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Sequence — Payment Method Routing via Factory 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99621-A8BC-4A23-83F7-D7606E49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결제 수단 선택이 concrete processor 생성으로 이어진다.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6FEF6-F92B-4F52-B599-93F54DB4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661CC-D770-4A33-B90B-384EFA52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17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CB4A24-6A07-45DE-B88A-5CC3AB6C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DD1C0-0BD6-44F7-98A8-A6C6BC6F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45171-2941-4805-AAE3-ED6F8902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PaymentController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F6FE21-3D43-4BAC-946A-BB3A2A69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90CF6-B528-4E8B-83B1-EDDBBA7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CB200-5C4B-49FE-A6AA-9421DAA9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E1E38E-D0BD-4139-A00D-7AC0BBE1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BookingController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6BE6A3-063E-4227-8120-D033FEC0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CF7A6-5BAE-487F-A1D7-3036D276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4A2903-7DE4-486B-97E7-83A5BFA2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655A4-EA33-4CE7-9384-976A10BE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PaymentProcessorFactory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E81893-9C29-418D-BD2E-1B61823C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373F54-D29E-43D6-B13D-7C3FC10A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55DD0B-A5C7-47AA-AA42-E65F27B7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7C2C63-C626-4CC5-8353-255AE714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PaymentMethodProcessor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15D965-2F1D-427E-A2B0-531A19E2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F0074E-E6D7-4EF3-8F09-3616FC75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71C323-D142-4F1D-968C-500FEBA1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6FCBC9-59E1-4150-8D2C-14619EC0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9A6752-57AA-4229-B4DE-E6B28773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A27E08-0161-4B54-AB94-D4EE925C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765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517DA4-75C6-491B-8438-A47D3F28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3336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2D392C-75BF-4DAA-B7D3-BDC9719A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764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confirmPaymentWith(method)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8A6831-8B7F-4A38-9191-9AD785F5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05125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490507-2354-4739-B0DF-782795D6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7622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22F71C-0054-478E-A38F-EEA5AE71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051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forMethod(method,...)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182DD-542E-45BB-B1ED-1EA8E186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E249C1-5209-46F5-B746-FF470FD4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1908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24DB3D-C613-4D51-86D5-9B83CF04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1337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Concrete processor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DE00C8-B6F5-498C-9CCA-5F5FD27F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62375"/>
            <a:ext cx="438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54890E-F8DA-4195-8B3E-A6ABB7EA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6195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6FE58C-E3E5-45C1-8A45-11422635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56235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processCharge(amount,pnr)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F70FC2-571F-4381-9EFF-EF62185D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377987-B756-43B6-A346-5E1D57ED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40481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4B4B84-DD80-4DF6-A6A0-48DB9E27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9909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createPayment(amount)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EF99FE-B12A-49D1-BA9B-850A485A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19625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F1EB78-D847-4367-8A28-5B5EF146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4767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490AD1-D707-455A-BD76-D0374BD1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419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pay/fail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D87F99-C50C-4B28-A519-9AB38FBD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1500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171074-D1AF-451B-919F-B4F73D28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1500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2E97CD-C564-4F0C-8221-78675147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867400"/>
            <a:ext cx="822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정정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B11DFA-AB45-4DBE-8D74-DA2429A3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172200"/>
            <a:ext cx="8229600" cy="-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4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교과서적 Factory Method 핵심은 PaymentMethodProcessor.createPayment()와 ItineraryFactory.createItinerary(); PaymentProcessorFactory는 선택 helper로 설명한다.</a:t>
            </a:r>
          </a:p>
        </p:txBody>
      </p:sp>
    </p:spTree>
    <p:extLst>
      <p:ext uri="{BB962C8B-B14F-4D97-AF65-F5344CB8AC3E}">
        <p14:creationId xmlns:p14="http://schemas.microsoft.com/office/powerpoint/2010/main" val="29825660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3B613D-E1E9-47E0-B787-9CEB3F4B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F6B9F-6671-4114-AA99-DD57D1DA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SEQUENCE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CEEE71-3AE7-4BF6-ADBD-652E2E09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Sequence — Seat Add-on Stacking via Decorator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DBB80-58BC-4FD0-BECF-A333BC89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SeatViewBuilder가 seat 상태에 따라 wrapper를 누적한다.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5AE67-AC32-41C7-AE5A-4AB414E5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2BEF4-82F1-442C-9416-8BFF6ED2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18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1FD4B-E86B-462C-BB0C-94D3D9A2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0AEB00-30B4-49A2-899A-B1F06ABE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4F51B-924C-4415-A19D-084D2701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SeatController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9306C-D0D9-4BC9-A637-A20B1F58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5FCCF-A0F3-4040-863C-755BD8DA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017D3-3CC9-4E16-B3E0-B989006A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00662-765A-4370-AC37-06468704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SeatViewBuilder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F998C-E0F5-4394-A532-3FF77593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31422-DF0E-4C9C-9356-EFD1BDA5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BD384-46D5-4489-B294-11042462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9CBBF9-92F1-4DE1-B146-67849D27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SeatViewAdapter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209998-771C-4CCB-B954-98C67C51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969C7-787D-49DC-A271-A6EA4D0F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8A4A45-9ADD-4958-9780-E28BF5E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7BF2B6-5D24-4238-86CC-2D6218CB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Window/Aisle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2C1D27-3E9E-4039-B49C-FF6A2EDF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7A7C13-0FBE-49DA-984A-B27755FB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1925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066B71-74F8-44CA-B3A7-C387EF4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19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C0EAFD-D140-44C5-833E-6C3A821A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954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ExtraLegroom/Lounge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02F264-20EE-4860-9960-57EDFAEB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145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6E3"/>
          </a:solidFill>
          <a:ln xmlns:a="http://schemas.openxmlformats.org/drawingml/2006/main" w="0">
            <a:solidFill>
              <a:srgbClr val="CCD6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D359A0-01C0-4649-BA35-9383C21B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765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49073D-9CE6-4799-813E-D2952B44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3336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070018-F941-4A2F-8CDA-D1D97609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764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decorate(seat)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1656D-33C2-4E50-8730-C7516920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05125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B9AD06-E5E9-4EE2-B275-195D1F2A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7622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5C2C43-A615-4F2B-9619-9A9443D1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051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new SeatViewAdapter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C711A5-229B-45F7-AFD3-58DF5028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33750"/>
            <a:ext cx="438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F4252B-879E-4354-A610-25723BD1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1908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4A9ACC-A940-4DAC-8420-F3B2FBD2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337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wrap if window/aisle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67661E-4DC0-4299-BC51-5CBB3A42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62375"/>
            <a:ext cx="657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BC3856-0477-4BA0-9D05-C71268AB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36195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4239AE-C6C6-4C4C-940B-7A103CC1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56235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wrap if extra/lounged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ACBB74-E76E-4CFA-A715-53287F9E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91000"/>
            <a:ext cx="876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113489-A110-418F-8601-2D4E93B1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40481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C10D63-CACE-4541-BF41-6840F321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9909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getDescription()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63966D-A171-4FD4-BE5C-94F2357D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619625"/>
            <a:ext cx="876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D2C279-7407-493D-974E-799488CF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44767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2AA10B-3E94-4ECA-8A6D-0E3C5FD1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419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getSurcharge()</a:t>
            </a:r>
          </a:p>
        </p:txBody>
      </p:sp>
    </p:spTree>
    <p:extLst>
      <p:ext uri="{BB962C8B-B14F-4D97-AF65-F5344CB8AC3E}">
        <p14:creationId xmlns:p14="http://schemas.microsoft.com/office/powerpoint/2010/main" val="46386212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863C94-E0D2-4724-9277-06433DB2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51F16-D617-4019-AB05-CFA6CB338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SECTION 12.1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E25A1-DE19-4401-8E41-4DC4FA32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 Application Progress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0135E-4567-47D0-9687-C87E61B3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각 패턴은 도입된 iteration 이후 계속 active로 유지된다.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FB72C-2E5F-4C64-9D9C-53EB46F2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0B943-9CAC-498A-BBCE-7BCE9705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19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0D4A5-98F4-421A-A51F-5C01DB8C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62100"/>
            <a:ext cx="84772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6D07E-996B-4D57-9A68-7216125E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62100"/>
            <a:ext cx="847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133BF-D95C-4897-AD16-EDC539BC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383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FEF61B-2D5B-491C-AE58-D1EE0E99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621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CC9B26-9908-4D3B-A097-296B3620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383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Category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3FD8E-BACF-4DC3-8374-A3C82CE9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621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6808F-11FB-44C3-A822-9B61578D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6383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E65195-7436-4D76-AEE0-A95F5877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621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BE4A8-043A-4E90-B43B-210EACE7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383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4B43E8-8F03-481C-B132-EA2EF589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621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6450B-CE41-45B6-BE87-5DA1F09E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383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3632B-DDBA-4802-BC20-82ECFE3F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621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028D9A-B731-4CAA-AB2C-EA934088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20F319-BDD2-4328-BAF0-6BEABD7E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574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E77CB1-B698-411D-B05B-FFDC679B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812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2160E-B66C-4A95-B4EF-68E50475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574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Behavioral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EBD8B9-6FC5-43C7-AE5A-3290FBD5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812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AFBE19-DB55-4439-9635-7F28FB54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574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FDC6E3-738B-4C1E-843A-112928A8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812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7CCDFE-4822-4C9E-BEBA-3C4483FF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574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active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F13B80-164A-4708-B427-A2E73FDC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812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AF0565-61E2-4EBB-B24E-399C1460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574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active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D45381-C61B-4B26-9F5A-9FB7125D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812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7E5EF2-AED4-495C-9360-85635B31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574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active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BDE9E4-2DD5-4012-A8C9-5451C186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Strategy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9B5AB7-64C3-4EF8-8AD9-3000BDA4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003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E8D232-73E0-4463-B522-C03F06E7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765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Behavioral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668DC4-CADA-41D6-AA37-D6F777EB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003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DC1101-7194-4731-BE66-AA3EA8EC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765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4BA60F-6266-41C3-9F47-7F399167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5B095B-A20E-49B1-A236-0C3725D2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DA7029-34E8-445D-A59F-C83D83D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5F0736-EF03-441F-B5E7-F0F59662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765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active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94C1C7-0E46-49C1-9F49-59700178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003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2B685A-136E-416E-8712-7E349CFB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765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active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B93AB2-0682-4CB7-9967-BAC4AF52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956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183D3D-DF7E-4CCF-BAC0-EE47879D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194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FE0031-DB08-465F-A203-F631AD14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Behavioral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3E20C6-574B-4E20-9BCF-E59E4845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194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4E0D40D-D0DD-4BF1-8FE5-8DFDD3F9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956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52AA27-A8E2-478C-B963-03E0D37D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194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13570F-5C17-484B-8556-08725E45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93FB8EC-0EFF-41C6-9A1A-2A563848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194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C3A29E-5B59-48C9-9C69-C40669CE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956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81A0B6F-7938-43BF-A936-54A08384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194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B739BD-7314-4403-8D1F-FFA86309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956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active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AED2E6-A967-439F-9AF1-5C662D91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147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DF05C87-5545-4520-BCB9-69436EAE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385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28CB92-AFDA-42D3-9F52-601F4F31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147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Structural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60F9BCA-5B81-4025-9EF6-4BA747CA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385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33C124-64D2-44B9-B6FE-355DCA07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3147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1E7D5D-F827-4E6C-89EC-1C837BB9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385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BEA75EC-3D7C-4678-8AAF-14F797AD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147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256210B-EB04-4D0D-BC73-59384678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385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E8E5A26-8F30-464C-BE59-52862DD8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147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9731F9-2E7E-4E77-862D-64726930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385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1555E8-6495-475A-975A-02478B9C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147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85F27A-4786-4291-9069-AF76CAF7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14C88CF-798C-4789-8D11-FDC6E282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576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CF012B2-B992-4ED6-BAF6-70325738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338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Creational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FBE0F94-533D-42F6-AC2D-B8B3722E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576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1EDA12F-0A49-46D8-BAA5-AA05C9B2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338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0EC7C71-AEAD-47D7-934F-09D404AB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576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A0D8566-C76E-4425-B6C1-C533FCE1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7338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B838286-384E-4D36-87ED-FCCD12E8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576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1931DD1-4F10-4250-8857-F8B0AE08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338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25B9626-B787-46AC-BCD4-CD77FE64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576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02BCB25-7D3E-4B6F-92D4-0161BF4A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38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259D0F6-2466-4B0A-A635-066033AB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529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346A4DB-FA78-4258-9A99-ADBE5E25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767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54815B5-98ED-4771-B321-F83FF9A1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529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Creational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1BC251C-C961-4A82-973D-E3892461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767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4ABA75F-C98B-429B-B09C-69223944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529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4741F6D-1384-4EB5-AEE2-E88C89CD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767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F34851E-984C-4D12-8137-EC703861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529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2B50927-D3E4-45D8-94A2-DFDD66B3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767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489EA28-C1F6-4E40-8613-F8CA471E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529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71A3846-1BFB-450C-9615-8ADB50F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767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D5CF921-6A3F-4FD5-A9A2-8E022F69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529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8A28D34-EBDA-4D73-9A7B-63527AB7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720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Template Method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A6EC56A-1845-426C-904B-E34AC55B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958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B9B395B-13AD-448A-9B3E-862CCC1E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5720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Behavioral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DA97A15-217D-4F71-A812-1778EDB5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6C318EF-EC5F-4CC8-86D5-F9DA1DC4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720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69CC299-E583-4867-AA77-84B209F1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958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2431CB9-FC0A-497A-B0D2-8B7716A7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5720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5DF19F2-DFD9-4519-B966-FC428C89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958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DBAE53A-7702-4756-AF8D-4DDDF8C4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720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5A33885-F566-403E-BAD9-42A3E001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958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86E99AE-9D12-44B0-B419-722D8063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720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4286E19-671F-4092-9E0B-C40CBB6A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911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95EF738-A736-43BB-AF2D-1E5BE4BA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149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FD00F3D-8514-471E-8517-C27B9434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991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Structural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686FEB-9D62-4CFB-9746-B5FDAA11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149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E09B92E-163B-4DD5-B1B5-9BE09666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911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AA1C37C-F97D-4343-B0A3-C57311DA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4788BDD-E44A-44F8-AFDE-9420BF4A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911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5CC5DC3-9E65-411D-9A25-8E7B6017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149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B90E64C-B3D9-4E82-8795-EEA45058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9911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ABD3EB1-B9A2-453D-9E46-69AAC217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149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6FA07A0-8220-42EE-8D15-27111F1D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911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0912A63-61F1-4876-BEB2-9C106589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10200"/>
            <a:ext cx="1847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BBF414C-A818-43DB-876E-5DBDE33F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340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AB5D6BC-9586-4369-B9BB-F96C13EF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102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Structural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DF117D4-90B4-44C7-9529-EF53E0BB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3340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AA8D0E0-F4DB-4A6E-8CC8-FB6BA40D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4102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A0443D8-26D8-4EA9-B2B9-58CE0730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3340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A0EE2F9-7FF7-4765-8CDF-71D103FF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102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96C0251-0D91-45C9-96AF-C99F7AEC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3340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44CD231-53C9-47DE-A829-D33081F9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4102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21683B0-79C3-4DD9-A0A6-FF037200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712833B-9608-4A43-8FA5-8BAB5C63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102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8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* NEW</a:t>
            </a:r>
          </a:p>
        </p:txBody>
      </p:sp>
    </p:spTree>
    <p:extLst>
      <p:ext uri="{BB962C8B-B14F-4D97-AF65-F5344CB8AC3E}">
        <p14:creationId xmlns:p14="http://schemas.microsoft.com/office/powerpoint/2010/main" val="14391552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27AEC3-9D4D-4BC7-9413-537FE8F2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2E777-4858-49EE-9889-6F466156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SECTION 12.2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5A5C6-D2CD-4773-B45D-2B55D5B4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Plan vs Delivered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D09F4-4F09-4BD4-8393-2274A7D0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Proposal #0 대비 4개 패턴을 초과 달성했다.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CEFA2B-976B-44B4-8B77-EB5EC35A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B3A86-7284-460A-89A1-613733ED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20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EB066-7A8B-45D9-9CC2-33A4F520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62100"/>
            <a:ext cx="8953500" cy="502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188D2-855A-46F9-AEA7-0E1437F2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62100"/>
            <a:ext cx="8953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75A92-FEB2-416E-9888-24FD80EB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383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6CEC7E-E2AC-408D-BBA5-415BD0EC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621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7EA86-84A7-4599-9A6D-79DC5FD6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383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Original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ED2B7-AE94-4B1A-97A2-4A389CD5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621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F312F8-B4A9-4C06-A92F-937766E6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383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Delivered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A0C74-1F74-4EE8-AEAE-EE57F34E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955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2B72D-6C29-4210-9866-485339AF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193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382EEF-ADD4-4B8A-B7C6-CD271468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955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Planned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8C06B2-F3AA-410C-BB8E-4B65D6A6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193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CCCA54-7283-46E1-AB40-4E9760E5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iter1 done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BCD512-5458-49EE-AAAB-092841A8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527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D6E987-2CFF-4BE0-92BC-AE6BAE1C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765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C3B746-CF5E-403A-80DE-3909EADF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527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Planned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EE2BE8-29EF-4840-A167-2252803A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765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B2C807-70A7-4D24-8550-47839ED8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527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iter2 done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139866-6AAA-4AF8-A54C-BB19EA73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0099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ED266A-C1D8-43B5-9A83-31681193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337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09AE15-B426-4DB9-BC2B-E29DB227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099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Planned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EC29D8-ABFE-4B8E-A9C7-201CD137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337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DB721-0250-457A-975E-8E2EA0AA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iter3 done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123B6B-8782-458A-A74B-872D1FD8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671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7827B7-9EF7-4DA7-AE88-3FA04EB4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909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E2F9EF-AAF1-48A4-B684-1D999648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671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Planned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A3B301-27F0-4266-8908-5D4287BC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909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1329C0-D62B-4106-A72A-9DC2601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671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iter4 done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EA0AFA-E684-4339-9DE2-4AF2C8AB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243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00F203-194A-4711-8A51-7A62D42F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481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2D96D5-AF5B-44D4-A2FC-DAE43490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9243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Optional planned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551AEB-B18C-4C09-A686-CB0D404B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481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56273E-0DC7-4514-8465-18BAA86D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iter4 done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197624-6BBB-4479-AAF7-69C15A7A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815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392067-5F92-4F2D-9D1D-EAA679FD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5D3A2A-5A2B-433C-B20A-47272CCE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3815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Beyond plan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C804CD-0D1C-437E-8CA0-7B97BD63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053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F530B6-5726-455A-A54F-57E053FF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815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iter4 done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DD9139-4260-4870-839A-6946A1B4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387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Template Method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E20096-C6E1-4192-B357-7C20915E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625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F5D24A-5D36-4CDA-B119-E705B454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387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Beyond plan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78A8949-07DD-47C8-BB1F-4E271BB1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625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649629-5607-49E0-8907-7F755071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387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iter4 done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50C410-71D5-413C-85D6-5528C55A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2959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4DE14E-3250-4660-A308-25CB1F5A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2197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54D556-7A66-4426-95EB-982D274A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959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Beyond plan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E27A48F-5B84-43DD-94D6-130A1089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197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CDFBCF0-69DD-40E9-B57F-31C993AA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959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iter4 done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11CBA3-3381-47BA-8E4A-8D5E4A23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7531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17C2A0-41E8-4A5B-92BF-8BDEAAED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6769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26D822-0661-41C4-B602-2BEBA5C4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Beyond plan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62144ED-504E-49F1-9C4D-29CC8F6E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6769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0FBC28-F443-48DB-AFC4-BD2A1F3C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iter4 done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B793590-854B-4716-B20A-DB198A7D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21030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Total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C6839F5-AAE0-4B83-AF14-16D30ECC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1341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FA473B1-0204-4767-B5A7-F8DF81EC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2103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5 planned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9DD6530-86AB-47DA-8B56-F22741DD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61341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B3E6EF6-2E57-4629-A5D7-3D37F76E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210300"/>
            <a:ext cx="308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15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9 delivered (+4)</a:t>
            </a:r>
          </a:p>
        </p:txBody>
      </p:sp>
    </p:spTree>
    <p:extLst>
      <p:ext uri="{BB962C8B-B14F-4D97-AF65-F5344CB8AC3E}">
        <p14:creationId xmlns:p14="http://schemas.microsoft.com/office/powerpoint/2010/main" val="37824948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9CBAE5-5046-4FA7-B0CE-4F2D725D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06B02-0081-48FD-8217-E6ABD5BE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SECTION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6609F-1385-47CD-8BD0-A255518E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Iteration 1 Recap — State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504F3-A020-434A-BF4A-454BD7EE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happy path에서 시작한 예약 생애주기를 상태 객체로 캡슐화했다.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D6262-4BE4-4814-86DC-D7F8FCF9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BF5D45-6059-45C4-96DE-081D5F0C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21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24EC5-4BB6-4387-A129-A9752984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4381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BA4DCD-E0FB-4141-851C-E8F813C6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229A2-64EA-4A27-8971-CBF1A985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71650"/>
            <a:ext cx="403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기능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347DB-73A8-4BAE-833B-A5861240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4038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login → search → passenger → payment → confirmation end-to-end happy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09F9A0-68A9-4915-9C62-B0803DD9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095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5C8232-30CB-42EA-8A19-BEB105FD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3981E6-8FEC-4899-A383-270EB9B8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7165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DP#1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F5C5E2-1790-4D8C-BFBE-99371711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76450"/>
            <a:ext cx="3752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Reservation lifecycle을 enum+switch가 아니라 ReservationState interface와 concrete state로 분리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390051-8522-44A8-A480-E862BBCC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005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8BCD75-6541-43DB-980A-7365A76C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0050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17762-1850-4DD2-9CA9-4B67CA85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152900"/>
            <a:ext cx="689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정정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B2CD79-AF30-4E55-BB3E-30249396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6896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Google Doc에는 'no abstract layer'처럼 보이는 문장이 있으나 현재 코드는 AbstractReservationState가 디폴트 거부 로직을 제공한다. 발표에서는 이 helper layer를 명시한다.</a:t>
            </a:r>
          </a:p>
        </p:txBody>
      </p:sp>
    </p:spTree>
    <p:extLst>
      <p:ext uri="{BB962C8B-B14F-4D97-AF65-F5344CB8AC3E}">
        <p14:creationId xmlns:p14="http://schemas.microsoft.com/office/powerpoint/2010/main" val="129994871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0DD527-F77C-4D6A-AD62-9283173D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1CC6B-C16B-4C3C-BB8A-651334A8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BF109-4E37-4B80-A654-24D5550D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DP#1 State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69D46-949B-4244-AB35-53AA98FC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Context가 현재 State에 요청을 위임하고, ConcreteState가 전이 가능 여부를 결정한다.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387ED-0CC1-416E-B9FA-28E8BBE6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27270-7F41-4210-A26D-5CE58220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22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2B4A7-06FE-4060-9CAE-E84903C8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C7511-D947-4B42-BE32-02C4F249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A759E-9E6C-4E9F-A679-623CF847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8AB77-D798-4629-B20C-0F9018F7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233AF-FCCA-444F-BD72-959F8BFC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28850"/>
            <a:ext cx="1524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BFFFD-50D8-4ECB-96E5-96F07751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288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A1E80-B988-47FF-AFC2-AC0B4661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6D3EF3-55B3-4CAA-89FC-33F86C8F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state: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70BAA8-702F-4CFF-9FA3-003BB00D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F09B3-58B7-4237-9F73-55F68F48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47975"/>
            <a:ext cx="13335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request()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setState()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6A66A6-0CF9-4533-953B-4D86C23D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28850"/>
            <a:ext cx="15049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F9B63-B16A-4473-9110-0E2E4A53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288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C5AAAA-528B-4A15-8BAE-00EB5707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050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«interface»</a:t>
            </a:r>
          </a:p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6E7576-48D2-4AB2-8241-9EEC9DCA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1314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method1()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method2()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method3()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B80E1F-99B5-4996-87CD-B9D938A3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62250"/>
            <a:ext cx="114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FF20E1-686F-4858-809E-EE67724D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6193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967BDD-F039-47BD-8B4E-30DE1AA6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622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B7B346-6DE0-4A89-94DB-88CFA007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9E4A53-B0C4-48E4-88CE-418BD3B6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A4A9D0-08E4-4511-8108-038E1E91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19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0B5538-57FF-483C-9178-C72B7879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244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method()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D456B9-8DE6-4283-B0F4-B5136AD1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43400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DCEACF-CCFE-4975-BD3A-8978F952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434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DB38DB-4065-4C45-BC2B-C3737AD4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19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D540D4-57D6-494D-A20C-327A8BD3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244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method()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E9A852-E948-4793-95BD-7EA4D1CA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43400"/>
            <a:ext cx="114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C17ABD-B12E-4DF8-9782-5A1F404D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434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AA099A-69E4-4F61-9B69-25EE8D6A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419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869E73-1377-40B5-9133-F17D090A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7244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method()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5F374C-047F-4E18-A950-3E73A95F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2C03CF-A12B-4F08-A87B-66D49AF6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719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53D156-AF49-4695-A876-3E048127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432535-0096-4087-8775-4983CC41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1719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53C093-E05E-4884-AF97-B043770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E11568-F246-4981-835D-AB843CAF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719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0B6BF9-42ED-498C-A366-6C15D9A9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6C4A5D-6853-42D3-A57D-52E93467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CA43B4-F16D-4571-BDD8-2614EAD1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62200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Reservation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4209D3-178C-4ABE-AD6C-FE5EFF3C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670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currentState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F56D54-751C-4EF2-8633-03589797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161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A73ECD-DED9-4217-8B57-9A4A69E6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05125"/>
            <a:ext cx="142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issueTicket()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requestCancellation()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setState()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7E5D7D1-71CF-4ACC-ABAC-DB69CCE5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2BCC37-0A9A-4822-AA10-C414F641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190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92738D-023A-49B5-A636-725EB243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ReservationState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4B1CC8-BC00-4679-95EB-6F70C5A8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71750"/>
            <a:ext cx="152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processPayment()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requestRefund()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processRefundDecision()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DAC01F-558A-4E8D-929A-9CF71F09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695700"/>
            <a:ext cx="171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99B0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602057D-FA80-4F1F-8947-EC819B6A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6957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E99B0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3F4FA1A-19F2-44C7-BF39-E8867C1A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719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AbstractReservationState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3EEE4C1-47E3-4842-8621-53AC1C87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76700"/>
            <a:ext cx="152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default: throw InvalidState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885680F-DA0A-4D66-97B4-863EA81C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6394874-2AD3-486A-9A1B-04BF70D0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21EBC0-1E70-4D6B-8712-79935EE0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ConfirmedState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1FFF56-9E5A-4C0A-890A-EB9F56E7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1015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issueTicket()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requestCancel()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05C578F-719A-4EE7-9265-00CA3784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291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5FE890-090A-4E73-9E30-3A25BB55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291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A79C744-4949-43E8-9740-42A50D8C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7053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RefundRequested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3EC8B7F-681B-4C1A-ABA9-1E32C826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01015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processDecision()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32B419A-00BC-42E8-A00C-C023F273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1940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58A1E26-18B2-43B6-8FE4-5552729F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765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263D3AD-901D-4E87-8CBF-D0AEEC4B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6193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delegates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752F1A-DB7D-4687-8C58-D614D01F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8135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9B00"/>
          </a:solidFill>
          <a:ln xmlns:a="http://schemas.openxmlformats.org/drawingml/2006/main" w="0">
            <a:solidFill>
              <a:srgbClr val="E99B0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AC16ABD-95C8-4B03-B7E4-40317E70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5242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99B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E99B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E849AB3-AB94-4A03-B2CF-5E777E55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362325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E99B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E99B00"/>
                </a:solidFill>
                <a:latin typeface="Apple SD Gothic Neo"/>
                <a:ea typeface="Apple SD Gothic Neo"/>
                <a:cs typeface="Apple SD Gothic Neo"/>
              </a:rPr>
              <a:t>defaults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A05CE3D-BD4A-4E57-8B3A-822A22C8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385B9B5-1544-4214-B327-48493947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Context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C94F9D5-A508-4E44-BB5A-7FC4C3B7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Reservation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C5D11A6-1AAF-445F-A1CD-1EAF6BA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currentState 보관, lifecycle 요청 위임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5D9F2DA-F908-4829-92F1-1E69BCE7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D1EDCAE-F72A-442B-9D58-29513B08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835EE78-56F6-4323-8DBE-FDD64674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ReservationState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ABFB3DC-BF2F-4830-8DFB-3C58899C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8개 전이 이벤트 선언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AB67CCD-2F04-406B-9D1A-4D2A124D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0F5C976-FA67-4801-93D6-60F3116F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Default helper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DC00CFF-3ACB-47D0-95D7-87799DBA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AbstractReservationState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314097E-22BE-4C74-B10D-D9D65968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허용하지 않는 전이는 예외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F0689D-B2A5-4217-86BE-13DD9DEE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0CE394E-1A6A-409F-A58E-ABD9FD0E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ConcreteState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351DE4D-422F-4CED-AF1B-9D6F2A62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ConfirmedState 등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47AD97A-2D15-4290-B842-812582E2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허용 전이만 override</a:t>
            </a:r>
          </a:p>
        </p:txBody>
      </p:sp>
    </p:spTree>
    <p:extLst>
      <p:ext uri="{BB962C8B-B14F-4D97-AF65-F5344CB8AC3E}">
        <p14:creationId xmlns:p14="http://schemas.microsoft.com/office/powerpoint/2010/main" val="134026602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3B551D-B92A-41E8-87BF-665C1F1F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7F706-6078-473B-BE9B-77A48BEB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5ACC3-925C-459E-AE50-0D420CEA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DP#1 State — Code Skeleton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2BE695-446A-4EF4-8B06-C27C9249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State badge와 터미널 로그로 전이를 시연한다.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D25F4-394A-4410-91CE-1D5DD6E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C9D29-8213-4E34-84B2-EBA25610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23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AEC4B1-046B-40B6-B338-CC8682FC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18A0E-F993-4F04-A05D-8E695CE8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24B12-754D-4647-96D8-3AAD7790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interface ReservationState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void processPayment(Reservation ctx);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void issueTicket(Reservation ctx);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void requestCancellation(Reservation ctx);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void processRefundDecision(Reservation ctx, boolean approved);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abstract class AbstractReservationState implements ReservationState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void issueTicket(Reservation ctx)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throw new InvalidStateTransitionException(name(), "issueTicket");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class ConfirmedState extends AbstractReservationState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void issueTicket(Reservation ctx)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ctx.addTicket(Ticket.generate(...));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ctx.setState(new TicketedState());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746DB5-4340-4A59-90C0-8B12A61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CAAE6-5A78-403E-8434-578CF9B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AF56A2-DA59-4263-9516-55C55919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39EED-DF46-4129-B30E-626D32D0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요청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4EF489-CC34-4859-B63A-41D2666E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Reservation.issueTicket()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BB303-2A8A-49C9-A6FE-5ED43777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F2D002-D3D6-4365-865E-5BEFE4E1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8FBB20-0F0E-4116-A8D9-4F0B2FFB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A24D9-53EC-4D8D-A9DA-6F24220E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B7934B-C1A8-4C01-9888-795AF633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위임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E52A4-FDBD-486D-80B0-4FBE5E5B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currentState.issueTicket(this)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EFCB24-0FCE-45F9-80E6-6A88C009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4685E-EA2F-424A-A417-423AD48C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486642-EA87-42B7-B68A-D7042F45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7EC031-10B0-408D-BC21-7C89D8E0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F5189A-3874-413A-AA9A-9A3A30B4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7F46D1-AD9E-41D3-9AB5-EA80A86F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ConfirmedState만 발권 허용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5B6420-3294-49D6-B5AC-AAE11310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E098C2-B5CA-495E-8B3D-C42F5902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CA24B3-2D17-4C07-8EC7-FC8E3C90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90AF55-55FD-488F-8C88-900E4B6C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1A0984-A557-4381-99DB-6928A93B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전이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CEA985-6B87-428E-9649-B59A3A74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ctx.setState(new TicketedState())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99728F-C181-4F6B-8F2B-D26AD947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12AA24-78FD-4C73-BD71-BF8EA8F2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8C4FF1-AEEC-46BD-A3CD-56692BD4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534516-B4F0-4444-89CD-E1A7432C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결제 성공 후 Confirmed, 발권 후 Ticketed로 바뀌는 STATE 로그를 같이 보여준다.</a:t>
            </a:r>
          </a:p>
        </p:txBody>
      </p:sp>
    </p:spTree>
    <p:extLst>
      <p:ext uri="{BB962C8B-B14F-4D97-AF65-F5344CB8AC3E}">
        <p14:creationId xmlns:p14="http://schemas.microsoft.com/office/powerpoint/2010/main" val="152885342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F6ABE6-35DB-483E-8C7C-6D6EB7E9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45AFD-42C9-4A82-94E5-8415D07B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SECTION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3AF1B-34B5-439E-B1CE-EEDBE209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Iteration 2 Recap — Strategy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0F77C4-F250-420E-B43C-C81DD76D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환불 if/else를 RefundPolicy family로 분리했다.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91661-D00A-434A-ABC1-DE2523DA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CA027F-648E-454D-8BEA-94382D13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24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BF3BE-FE12-45A9-83BD-A78B6783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4286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F9197C-97EF-4F6E-B608-3CF4C27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796589-8223-4FFF-B203-D1BC5917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19275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기능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4D2F5-BE6D-4E8E-BACF-7A43BF07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24075"/>
            <a:ext cx="3943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cancellation, refund, e-ticket issuance, reservation lookup, seat selection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4EF2E-6927-4ED2-8917-FC9FB38A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4286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774CD-3D3B-4866-97FF-4E331207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4CD104-8E4D-48F8-82C0-FE1A57B4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19275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DP#2 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D6A5B-EE95-4F9E-BB9D-4717B17D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24075"/>
            <a:ext cx="3943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Full / Partial / No refund policies selected by FareRule and executed by RefundHandler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7B26E-2A7B-473F-AEAB-433DF1F7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7620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F750C-6C03-46D0-8106-74AFD432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3"/>
          </a:solidFill>
          <a:ln xmlns:a="http://schemas.openxmlformats.org/drawingml/2006/main" w="0">
            <a:solidFill>
              <a:srgbClr val="00A87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8A0602-F069-4666-B63A-9075F273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71950"/>
            <a:ext cx="7277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핵심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0AD28C-00EE-4AD2-9C6E-A0A9E43C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476750"/>
            <a:ext cx="7277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paid는 추상 용어가 아니라 reservation.getPayments()에서 합산한 실제 결제 총액이다. 각 ConcreteStrategy가 이 paid를 다른 계산식으로 처리한다.</a:t>
            </a:r>
          </a:p>
        </p:txBody>
      </p:sp>
    </p:spTree>
    <p:extLst>
      <p:ext uri="{BB962C8B-B14F-4D97-AF65-F5344CB8AC3E}">
        <p14:creationId xmlns:p14="http://schemas.microsoft.com/office/powerpoint/2010/main" val="118398275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9A2D67-E824-4AE2-A9C0-38110D04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B4DE73-117B-4C19-AD61-7E6D4C69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C0A64-E429-4FD2-B159-0DD9B80E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DP#2 Strategy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9AF95-A88B-449F-AD15-E2DE4206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환불 금액 계산식을 정책 객체로 분리해 운임 규칙 변경에 대응한다.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6D36D-931B-43E8-9FA9-59228007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AD213-F8F7-4091-9FB4-A436DC16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25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5143E-3969-41DA-B6D7-367346AC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069E2-31D2-421F-81D0-EC7A8D75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D2985-CBD8-4AF1-9C81-2F5ECB56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8BEEF4-C903-43DA-9533-020CB516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77EB56-01AF-42D9-9712-5ADAC111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1134F0-9342-4928-90C9-EECA9A3C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E86A9A-5DDD-4E98-BF29-D5B9366A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6A07F5-581F-48CB-9045-13FA9131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956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strategy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360580-A074-48AF-94F6-9968919E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161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35E60-F12A-47A4-A160-27392DA5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33725"/>
            <a:ext cx="14287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contextMethod()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94FF89-C108-4FBA-B9B5-C4A3EE7A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19350"/>
            <a:ext cx="1428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A090BC-29CA-49A7-A81D-9210F763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193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847226-B396-4ED5-9D4D-D5551C9D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955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«interface»</a:t>
            </a:r>
          </a:p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AA1CA6-B417-4B19-94C1-F0E77A40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800350"/>
            <a:ext cx="1238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algorithm()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E07691-27BC-4081-B67A-25FF13FF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337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299DD2-9070-4CD0-918B-EEDB001E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908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087940-055B-435B-A775-C0E5A1D5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7336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strategy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22AE5-1F8B-423C-9DEF-B320ED3F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1257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62E4B5-133E-47DA-A6D6-48B66D6E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507EF3-0BB8-4C70-BA5C-B3A3F7D9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767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5F971E-85E2-4973-8965-5C3CF1B7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algorithm()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7B8547-7250-4433-80C3-982E3A52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400550"/>
            <a:ext cx="1257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90C2B2-03B5-434B-BF9E-EA979586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4005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FD0D88-1907-453F-9BFD-3FC3E79D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4767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7FBB0-37EA-4424-B558-D7D15BDA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815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algorithm()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AFF5E4-D45C-409C-A512-F04084E6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480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82F47A-EBCF-4B60-B256-7888168C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2291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E986A9-3285-4D63-BE3A-73795251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480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E371E6-7943-4E68-88DC-E27FA2AD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291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F3A206-B07F-4D58-8A8F-08E43EB0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16954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C66519-E555-4343-8549-1F96A7FD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5BB2A8-FB08-4C9E-8AEC-CB816858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52700"/>
            <a:ext cx="1543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RefundHandler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F76F75-9FB4-4776-84EC-919BD74E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57500"/>
            <a:ext cx="1504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evaluateRefund()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processRefund()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4E3025-90AD-4C9C-A066-B48C4589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438400"/>
            <a:ext cx="1524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6D8CE1-DDCB-4518-9DFC-A5F09F45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4384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9C040F-FFA8-41C3-A307-D68E6F9F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5146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RefundPolicy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688FA5-FE6F-4A06-82D7-CC0ECC7B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819400"/>
            <a:ext cx="133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calculateRefundAmount(paid)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getRefundType()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A6DCCF-480F-4E9A-BC3B-027266AD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13239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F55844-738E-4ED6-BB89-6B1A2451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098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12EBF8-9434-4CCA-AEEE-F148E75F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8188" y="27527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policy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CA01832-F1ED-4157-B343-1742A27D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81500"/>
            <a:ext cx="1257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787020F-42F5-47A0-ACCF-396F0368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815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A884B0-6986-408E-B507-CB327A58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5770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Full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297C49-8679-4036-9AB7-248A4DE2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→ paid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360471B-6071-459E-9481-30D105BA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81500"/>
            <a:ext cx="1257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B444DAA-3ABD-46E3-A4EC-53FD5837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815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667BA3F-0DE1-4498-A5F1-DCAC9CE1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5770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Partial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F5A5DF-9BC8-4782-BD63-E72517A4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→ paid - penalty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CC046B1-3ABB-4E67-95DC-83D75C16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81500"/>
            <a:ext cx="1257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63E9BB-DC7E-4F98-993B-CB0325D9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815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B7659F0-1438-4E40-BC80-3D0C6EFD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45770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No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EDF0011-01BB-49F9-84EC-10D0084E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762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→ 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2A6CBD-074C-4B30-838B-F7F4E4E9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176BCE4-D875-45F8-8AC6-1A3A006E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Context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0B94645-0EDC-43B8-BF0C-7B7AE519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RefundHandler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FF06807-E0A8-43BB-9B22-731A746D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환불 흐름 orchestration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27776AD-5BE3-437D-945B-380F9255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A6940DC-CE8E-420C-A703-72100FA3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Strategy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A7B170C-747D-4474-AFC2-3C0A81F1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RefundPolicy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C55D36F-93F3-4FA6-A2B8-DAE09133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calculateRefundAmount(paid)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1983D40-658C-45EB-94AE-C232997E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78C9561-98C9-40EA-84DA-0E6C26DF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ConcreteStrategy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C9B6E76-AC5F-4DCF-B590-DEBD7C62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Full / Partial / No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D6B51F5-79D5-4959-B085-C5C5EA86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전액/부분/0원 계산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04572E3-CCF4-4DE1-8D6A-7A38701B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8D7520A-471B-4BD9-897A-F289BEAC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Selector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722465A-F04E-4C20-BCC0-771E729A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FareRule / resolvePolicy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A45BFE8-8300-462F-9DC0-9C20B354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fareClass, refundable 기준 선택</a:t>
            </a:r>
          </a:p>
        </p:txBody>
      </p:sp>
    </p:spTree>
    <p:extLst>
      <p:ext uri="{BB962C8B-B14F-4D97-AF65-F5344CB8AC3E}">
        <p14:creationId xmlns:p14="http://schemas.microsoft.com/office/powerpoint/2010/main" val="118120491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48E8C5-8FBC-4304-B8BF-7FC42C35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69AA3-02FE-40CB-BA7E-21CCF0CF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59FC7-5DCF-424C-AC56-C00991DF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DP#2 Strategy — Code Skeleton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54053-D6D7-4BFD-8829-4D80CC45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예약 조회에서 취소/환불 미리보기로 policy 선택을 보여준다.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C501D-2C05-4225-A3E5-9173D1E5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566EEF-19BB-42C2-9B38-CA8790B8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26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B9EDE-AB16-4648-93DF-E2F78566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4EA1AB-0516-4AC0-881B-10EA8403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A2C67-42AF-430B-9706-1B5FFEDC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interface RefundPolicy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BigDecimal calculateRefundAmount(BigDecimal paid);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String getRefundType();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BigDecimal paid = reservation.getPayments().stream()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.filter(p -&gt; p.getAmount() != null)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.map(Payment::getAmount)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.reduce(BigDecimal.ZERO, BigDecimal::add);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RefundPolicy policy = resolvePolicy(fareRule);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BigDecimal refundAmount = policy.calculateRefundAmount(paid);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FullRefundPolicy    -&gt; paid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PartialRefundPolicy -&gt; paid.subtract(penalty)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NoRefundPolicy      -&gt; BigDecimal.ZERO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C08BDF-B92B-4F72-B47B-D9A5BC13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B7094-E8C4-4469-A832-54CEEB7B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8FE17-CE5E-4202-82AB-1D24435A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BB21AC-32A1-4F24-B44A-A3423877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예약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055611-6A26-472C-B977-0CD77B7B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Confirmed/Ticketed 예약을 조회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250BD-F3D1-4BE1-B214-41D93F06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F095B2-BC67-4D71-8BAE-77EFC280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233994-4405-48E5-AC82-61075103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05970-BA03-4A13-808E-A76AFB07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07BFAC-8F43-4211-AE12-15765639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규칙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2CEDA-55E3-451C-9E64-D67072B7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FareRule refundable/fareClass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7DFC8D-2860-4F77-8AF7-D5A6E0FE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77BB6C-3DB4-4DF7-838F-DA3CF9EB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1271F7-EC53-49B0-9C65-CA3B75BC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EFE691-F2CD-4A86-8672-E4383721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013684-1F6A-4D6E-909D-241F865D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정책 선택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4AD797-B827-43FB-9662-6F25C044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Full/Partial/No 중 하나를 Strategy로 선택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86461C-AA8C-49A4-B289-FF2CB016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93BDF3-57A3-4A53-8D58-BC52AE33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F54214-F8B7-47AC-98D0-9CBFB687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FE59D5-78C2-41B0-A614-B9FA1E13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1CE036-84BB-4442-B1D2-182068D0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계산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798F26-2EB1-4D9F-AC7C-37BCF801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Context는 policy.calculateRefundAmount(paid)만 호출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22EA48-C73F-47F9-A94F-32950CF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37BF7A-B736-45FE-9DF6-D6AA102C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4CA061-5608-4E69-B2A9-D9F0674D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BF138D-A299-4A22-B3F3-6CD17DBF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화면에서 환불 미리보기 금액을 보여주고, 코드에서 paid 계산과 policy 호출을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100440894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D0D4FC-66C4-4753-B561-49C43BD5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C7512-7079-4C9E-9E43-E4ABAEBA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SECTION 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A41012-36F4-4B1B-9EC6-B94EB41F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Iteration 3 Recap — Observer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E704B-2B4B-46C4-B1C2-79729A4B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부수효과를 호출자에서 분리해 publisher/listener 구조로 이동했다.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BE11F-A3B5-4422-B13E-E06BED96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0E7F12-FB21-49A5-A21D-869A45E8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27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61932-1816-4923-9E4C-5E0BB3EE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97155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DE49D-5BF2-48AB-B011-F50C1F92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971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A3569-0B2F-4066-9ED2-64FDD5F3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95450"/>
            <a:ext cx="2514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Subject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C5416-C305-4F3D-A293-03E7A198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19250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35DFE-A580-4FAD-A933-DE30F649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95450"/>
            <a:ext cx="3467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4F96B-0430-4F6A-BCCF-DAC6AEEA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D1134D-B166-45BE-AD62-BE01497C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3276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Listener effect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349243-D528-4B82-A287-24D1E4D0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14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SeatHoldMonitor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ADE2DC-077E-499F-B780-6EB00E46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43125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D4813-7ED1-4259-85BF-D0849249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19325"/>
            <a:ext cx="3467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SeatHoldExpiredEvent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8ABF7-E0D5-4CD5-8943-99A686AF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43125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CC2C08-79CF-41FE-A0A4-570440C2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19325"/>
            <a:ext cx="3276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 release + reservation cancel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D901B8-B4B4-45B0-BB3E-82C16447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2514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PaymentProcessor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7FC97-92DD-4E51-94F2-D9AF9BED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67000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F80B16-BAD3-4FAA-8259-A93B9DE3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43200"/>
            <a:ext cx="3467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PaymentFailedEvent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8CF855-CB43-40FE-A2B6-768648D1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67000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DF05F-5ACF-4206-AD5E-85ECE153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743200"/>
            <a:ext cx="3276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auto-cancel on payment failure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63AC34-8A0A-4A98-A3D8-65F0DADD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67075"/>
            <a:ext cx="2514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FlightSchedule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1A3B49-FA36-4A6E-BD95-C2256ECA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90875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826F3B-0C95-44C2-B4BD-8471C513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67075"/>
            <a:ext cx="3467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FlightStatusChangedEvent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71E3E7-BCDA-4E27-9EFD-DA62AB58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90875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64100D-6AB8-4296-8D0C-A1384386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67075"/>
            <a:ext cx="3276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affected reservations update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159BE2-F432-4742-BD25-3335E327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2514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TicketPurchasePublisher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558B9A-32D4-473A-ADBD-E52AAA24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14750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7CDD15-F284-43DF-A04E-EF257351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90950"/>
            <a:ext cx="3467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TicketIssuedEvent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18F9F1-DC2B-4B4E-A442-476CC688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14750"/>
            <a:ext cx="95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AE8D09-A370-40A7-AB8D-DA71DC93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90950"/>
            <a:ext cx="3276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linked bus-ticket issue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3ACED5-CEC9-4A15-8C42-B8E688FB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5300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7F5AA9-DADA-4F38-A244-1CC4746E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530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3"/>
          </a:solidFill>
          <a:ln xmlns:a="http://schemas.openxmlformats.org/drawingml/2006/main" w="0">
            <a:solidFill>
              <a:srgbClr val="00A87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867D4C-3A77-4079-9561-C059072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105400"/>
            <a:ext cx="689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핵심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900E1B-63BA-4198-9D3B-13979620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41020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Observer는 iter3에서 도입됐지만 iter4 확인 화면의 버스티켓 연계 시연에서도 계속 active로 쓰인다.</a:t>
            </a:r>
          </a:p>
        </p:txBody>
      </p:sp>
    </p:spTree>
    <p:extLst>
      <p:ext uri="{BB962C8B-B14F-4D97-AF65-F5344CB8AC3E}">
        <p14:creationId xmlns:p14="http://schemas.microsoft.com/office/powerpoint/2010/main" val="107134272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D56FD1-76C3-4604-89C1-84AD0588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E857D-94CD-4443-B9D8-916DBAED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1A5C3C-F66E-492E-A804-40A55AA7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DP#3 Observer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0DDB1-5F1D-4D6F-95CA-A5DB47B8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Subject는 이벤트만 발행하고 listener가 각자 관심 이벤트를 처리한다.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0FCA3-D9A4-4E71-B67F-34BBCA2C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0D832-FA58-444F-8FC8-190ED1F9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28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89E7F-968D-4EC8-A79B-531C8334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0EA69-C6E5-4D10-BB36-84004413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190FF-562E-4F43-A5B7-F814FE8B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0FE64-FDC7-40C9-A7D5-5B6DED39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12E54-8CE6-44AB-B12C-11B18499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6954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0D741-557F-43EE-94DE-90E0FD95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F747C-15AC-4449-A402-6361F7CA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1543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Subject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36447-65CE-4833-93CE-71CEE207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24150"/>
            <a:ext cx="1504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observers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5C13E-084D-461A-BC5A-06CBB2BA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19D42F-5DBC-453C-9E7F-2FA73CCB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62275"/>
            <a:ext cx="15049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attach()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detach()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notify()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7C8C3E-23DD-47BF-8F93-45A70413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19350"/>
            <a:ext cx="1428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952587-76B3-4ADA-879D-6CE68BF8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193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C96C1-CF3A-4CF6-8306-D8A6D3E0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955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«interface»</a:t>
            </a:r>
          </a:p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983BA4-3B85-47A4-8E07-36240548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00350"/>
            <a:ext cx="1238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update()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DC3451-88CC-4994-ADDD-530EE903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14650"/>
            <a:ext cx="1104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146836-30F9-49A4-9D7A-FE4A23FA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717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36200D-E879-40B6-9658-CBC45670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146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observers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90D20F-B042-4DCD-BF32-187529EB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43400"/>
            <a:ext cx="1695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5D6F7A-658F-46B1-B1CF-B6898BE5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434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9412F7-776D-4720-81C5-7E1DC747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1543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ConcreteSubject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347008-C9DF-4571-961F-FA86D240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24400"/>
            <a:ext cx="1504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publish()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32FE5F-D020-4A8E-B4E8-5E767EA0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343400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97BD18-7DF8-4E54-8DC1-9EBABBD5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3434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9E8AB3-AAC2-4CA5-9705-2A83E42A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1960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ConcreteObserver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AD9465-D50E-4BD7-B66B-FF0FCC11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72440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onEvent()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D761AB-5C24-4771-9213-1417361B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0505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ACB33C-404F-46B6-8BA9-CF710B04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050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059175-1EC1-4F6D-8D52-3B49A352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812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EventPublisher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BAE332-7AC2-48AB-8F75-0AAA90AA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860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listeners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9286F6-C429-4E85-B8BD-3BA704DA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76550"/>
            <a:ext cx="171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9F496-8700-4E10-B457-DDE41025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24175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subscribe()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publish(event)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4899CB-3AA0-4F57-B366-E9B2F837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00300"/>
            <a:ext cx="152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787EFC-206C-4921-AB93-D892F5E0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003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94702F-2D87-4B14-8294-96AAA959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765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EventListener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7F1939-7D4A-4283-89CB-465DD962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onEvent(event)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F44A02-F272-4F55-84F2-3B912D0E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76550"/>
            <a:ext cx="1314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22A9C5-19ED-4246-8CD3-75C0E7BE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733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7C52C0-054D-4547-8FA4-C5DB1580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765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notify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A01789-85FC-46A7-A421-BCABF198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43400"/>
            <a:ext cx="1981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AF7501-22E2-47CD-9E08-3B0A0A68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43400"/>
            <a:ext cx="198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E00B8C1-4343-496F-BC81-E58CF609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19600"/>
            <a:ext cx="1828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TicketPurchasePublisher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EC4701-A40D-4D06-9F6F-B25A6764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24400"/>
            <a:ext cx="1790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publishTicketIssued()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B83088C-A391-4738-866A-3578E122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43400"/>
            <a:ext cx="2038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76C40B-A1E5-495E-B730-2A820BDA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4340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59B7F5-CA67-491D-A34A-57AF2267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419600"/>
            <a:ext cx="1885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BusTicketPurchaseListener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648034-1454-4092-AA56-69BA8D8D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7244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onEvent()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issuePremiumTicket()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21AF4C6-EC82-455A-9C00-8B5E503D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51B73A8-DFAF-42E7-A431-83FE8DD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Subject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A4D0518-7C68-4DC6-A1DD-737EE704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EventPublisher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5A294F0-45EC-4FB9-A114-25D20834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subscribe/unsubscribe/publish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538134-4C8A-498C-93DA-8E565A70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C024ACB-65BF-468D-9D35-4BE8697D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4DE9058-6F32-4AEA-9476-51600335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EventListener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98EED50-82A3-410C-B8BE-04CE9C96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onEvent(DomainEvent)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1C45EFA-5421-4582-80D0-90B59CBD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2C900ED-25B2-4D2B-B367-F149DB64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ConcreteSubject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FFEC5B6-55B1-4D16-B373-463D65A0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TicketPurchasePublisher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299CFF2-1B45-487B-87ED-92AF37F9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TicketIssuedEvent 발행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836B67B-13B3-4B30-8D9C-AAC88576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AF1D058-DECD-4A0D-A132-3AC201FF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ConcreteObserver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649111C-7CEC-41DD-9F48-E6046414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BusTicketPurchaseListener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21BF706-91D2-4B95-80B3-5908D34C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버스티켓 발매 처리</a:t>
            </a:r>
          </a:p>
        </p:txBody>
      </p:sp>
    </p:spTree>
    <p:extLst>
      <p:ext uri="{BB962C8B-B14F-4D97-AF65-F5344CB8AC3E}">
        <p14:creationId xmlns:p14="http://schemas.microsoft.com/office/powerpoint/2010/main" val="8037043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DE1BA6-8FD9-4011-939C-0924B8D1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74068F-44EC-41B7-9300-D9F570DE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7347B9-269D-4A39-B60D-2D0AC20A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DP#3 Observer — Code Skeleton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94EFC-55ED-4026-B993-B48F13F1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발권 후 버스티켓 자동 발매 로그를 보여준다.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8292E-417B-4DE7-96C4-4024CD3B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968EE-4723-4B3B-8B58-936B4E46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29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2216B-9379-4C27-ABC7-3E7ADD83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59149-527D-48C6-95BF-0E27B278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CB76C-0D43-462C-A86E-420E80CF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class TicketPurchasePublisher extends EventPublisher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void publishTicketIssued(Reservation r, Ticket t, BusCity city)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publish(new TicketIssuedEvent(r, t, city));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abstract class EventPublisher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final List&lt;EventListener&gt; listeners = new ArrayList&lt;&gt;();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void subscribe(EventListener l) { listeners.add(l);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void publish(DomainEvent event)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for (EventListener l : new ArrayList&lt;&gt;(listeners))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  l.onEvent(event);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class BusTicketPurchaseListener implements EventListener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void onEvent(DomainEvent e) { issuePremiumTicket(...);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730D6-AD18-43B2-9B65-EA6F11F8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D842DC-D850-40BF-8D83-67F396FC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40F74-F2AC-432A-A685-6A683131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9F53E-9512-451F-B333-9EA921AD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D0A138-EA8A-49BA-8AE7-D5055AA7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Confirmation 화면에서 e-Ticket + bus city 선택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D81978-4102-475E-B2B0-C4C4B9B8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1BEF4-CDE7-4509-93CE-34F9D3A7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3FDCA3-8243-4FB8-BB6D-B4FF3444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3160A7-B272-487C-9EC9-B8E6C87F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B331D2-596C-4D56-A89E-54438AAA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113DFC-5379-4145-AD16-21E2D4E3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TicketPurchasePublisher.publishTicketIssued()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FEDFB8-FDC8-4427-BC9A-9A1F3091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EAE431-F9DB-4B57-AF7D-09947768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D588F-CD3C-47A6-AC79-08F25E48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266F9D-F1CA-4897-8661-BC9C6944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EEB1C0-B9CB-4917-A119-9E33C829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구독자 처리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7D0174-4060-42D0-B0A2-476AB688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BusTicketPurchaseListener.onEvent()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420802-AFC3-47DF-9E1C-75E4B314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3035D9-D3CF-446E-9F28-0AA8C5A4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B73D9C-752D-47D8-8BC7-BF9E04C2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3446B6-23E5-400B-9AD9-602F5EF7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E3591F-E8D0-4994-ABAA-5B0ECE6A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결과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AF47DC-4166-4330-81B4-2CA6CD51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BusTicketingService.issuePremiumTicket() + [BUS] 로그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8AF08E-6303-402B-B9C7-BAE2F0FE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9DFD35-F61D-45F7-8E02-794164BF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D361AF-B3F0-4841-9EBA-E196D686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8BBABD-BFE0-47E9-A92A-FF069F1D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터미널의 [BUS] 로그와 확인 화면의 버스티켓 상태를 같이 보여준다.</a:t>
            </a:r>
          </a:p>
        </p:txBody>
      </p:sp>
    </p:spTree>
    <p:extLst>
      <p:ext uri="{BB962C8B-B14F-4D97-AF65-F5344CB8AC3E}">
        <p14:creationId xmlns:p14="http://schemas.microsoft.com/office/powerpoint/2010/main" val="65138181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D55586-002A-44EE-83CD-AE08094E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66143-A482-412B-88A1-E1ECD2A6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3D53D-10C2-4D75-AAC3-33CD18D3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DP#4 Composite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8BE3F-BA33-42EB-A664-42E009D6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도시와 공항을 AirportLocation 하나로 다뤄 city-code 검색을 확장한다.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6480C1-8F2D-46E8-8748-E80749E8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20C83-ED8C-4192-85F7-69D279DB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30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E17B8-69B6-49CC-B050-1D5B2414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9ABB2-8B32-4BCF-B742-05418243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ADA3A-99CF-4C38-9D89-E964754F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955C4-68EE-4E9D-AC7C-31429B1D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2F046-7EC6-41A3-BA09-A7B102E9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305050"/>
            <a:ext cx="1524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E3F62-52E7-4F67-B095-E6BC1FBD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3050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7468C-E530-4F5D-9392-3914AF7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3812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C5641-40BB-4E13-A643-4DD797E5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6860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A2C983-985C-4B62-9449-D7DB2541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D933B6-F343-443B-BB12-3BF757E3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DE91CB-FCBE-40BF-8FA9-73C37C24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19600"/>
            <a:ext cx="1181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Leaf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197857-8666-401D-99F4-B2601E67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244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54D96A-3B7F-4C3A-9317-B6DEF954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03860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F4191-0BFD-4011-9A38-5FDB6946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0386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3CE794-F7AE-4E29-A4EA-7B46D441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1148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C6F017-ABEF-4DC1-93E1-5EC4B2D6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4196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components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F17EF7-8E7E-4A74-8E92-C936F5DA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610100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D9AB95-9AE3-46AA-B13D-FA9FE826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657725"/>
            <a:ext cx="1333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add()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remove()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85F8F6-C3F9-4A94-B81B-FA2A2EE8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048000"/>
            <a:ext cx="190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B51383-981A-4E86-80B1-DBF2D642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719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7D7509-C503-4CD2-9C7E-C97474D7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0480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DD615D-13C7-4E24-B2BA-F71A6282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8671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9901D0-0AED-4297-8BA9-C7F51575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6957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0..* components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B2C798-CE4D-4F97-947A-129EA84D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24790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D71E62-0353-4F49-9C4D-A6DF48A7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2479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B10B24-476F-4ADE-8CEA-16AAB12C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3241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AirportLocation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C70D55-87E6-4E2F-836F-9C1A5980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628900"/>
            <a:ext cx="152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getAirports()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matches(code)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isComposite()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7EB9CD-051B-430E-AC4F-6B33B5A6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1F89C-9632-464F-BB1E-8C84A9DC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2C2030-2FEB-41B1-8AA0-ED336E50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8150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Airport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2F4852-0BE2-489D-92A0-D32DE156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863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airportCode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C86E05-003A-4172-BF75-DB6B5AAE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76800"/>
            <a:ext cx="142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BC18CD-8CE0-4F55-806C-E45E4C1C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24425"/>
            <a:ext cx="1238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getAirports()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FE6488-B64A-4D5D-B1D0-1A146C89C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43350"/>
            <a:ext cx="1714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E5F653-34E8-4762-8190-9E2D2AFA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433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F0F581-D098-46DC-9A5F-64665D18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01955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AirportCity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F3AB7E-6B6E-4E07-A6F3-76420B43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3243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cityCode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airports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5A254D-4E7A-4CB8-8729-833375E0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48200"/>
            <a:ext cx="171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FC6353-1465-4D92-A35A-E9D8F68F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95825"/>
            <a:ext cx="15240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add(Airport)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getAirports()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matches(code)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3E6782-C765-4A48-8F02-720754CF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238500"/>
            <a:ext cx="19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548EE80-1763-487B-A34D-4735722B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1338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5A22E8-7BE4-4F2E-950D-51322841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2385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51F393-2531-401A-8704-FBC1B1F9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771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5F965D-592D-48F8-B212-859AC836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8D9150-3F2A-452F-A230-88203722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C6169D1-8264-491A-8E8E-A4511F83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AirportLocation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5B732E6-6204-4CDF-BAC2-FE9CE6E6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getCode/getAirports/matches/isComposite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AD4E49C-5475-466F-A736-864133AB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BBE15F0-5A26-419F-B956-8F07F0B5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Composite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D792A7C-8ACB-4C15-AF8F-B31D48E6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AirportCity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08B5A9E-02B9-4A9A-94EC-C9CB6BD7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cityCode + airports list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ECB868D-69DD-4961-A24D-53206263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A55CC6-D40A-4777-8970-6E594F62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Leaf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ECF0767-5EF0-424C-9D0A-365116AD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Airport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D9DF0C4-275D-4670-A1C2-1C93BA53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단일 공항은 List.of(this)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4A4E4D2-64F6-46E1-A5A3-AB2AD08C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52AC2D2-0F41-432C-92B9-A587F0DD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Client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E700E42-9BB1-4302-94EC-8C42703A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FlightSearchService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E409976-5353-4B69-A822-C80E464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도시/공항 구분 없이 searchByLocation</a:t>
            </a:r>
          </a:p>
        </p:txBody>
      </p:sp>
    </p:spTree>
    <p:extLst>
      <p:ext uri="{BB962C8B-B14F-4D97-AF65-F5344CB8AC3E}">
        <p14:creationId xmlns:p14="http://schemas.microsoft.com/office/powerpoint/2010/main" val="2130707385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CCF470-13D8-44CF-A445-8E58614B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C81A6D-DD58-45C1-A2C5-5C8C4E5A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9D056-4756-4B01-99D3-6B74ED69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DP#4 Composite — City-code 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FA325-6F32-45D6-A3F0-468DA350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SEL/TYO/NYC/LON 검색을 여러 공항으로 확장한다.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74DDA-8BEF-4E81-9E05-672A0B78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B6E54D-280F-442F-AEFE-F29271AE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31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75127C-7A07-48B6-8F16-57B75996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C7B12-9112-4A5F-B80F-F1C70C1A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7D404-2059-4E8A-BE8B-D2F013B1D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interface AirportLocation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String getCode();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List&lt;Airport&gt; getAirports();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boolean matches(String code);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boolean isComposite();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class AirportCity implements AirportLocation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final List&lt;Airport&gt; airports = new ArrayList&lt;&gt;();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AirportCity add(Airport airport) { airports.add(airport); return this;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List&lt;Airport&gt; getAirports() { return unmodifiableList(airports);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boolean matches(String code)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cityCode.equalsIgnoreCase(code)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    || airports.stream().anyMatch(a -&gt; a.matches(code));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FlightSearchService.searchByLocation(from, to, date)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525838-1520-46B3-AF05-904C8751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78CF7-9849-4A31-8204-CFB20882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DCCC2-8196-43C7-A3AD-8B8728CF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9A01CE-5A82-4206-918E-F180AA94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7EC204-6AF5-44EE-9E0B-A9B7A978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Search 화면에서 TYO/NYC/SEL/LON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4AF789-979E-490E-B8E1-B74FAC7D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19A75-8B74-470D-B9BA-FFF445A5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50EDE9-45CB-4E4D-8237-A8AC27EB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90F597-A643-4955-98A3-1EBC7C75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94E15A-7D91-4AF2-B18C-C512C18B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lookup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28DBCE-9D1A-42CA-ADD6-DB252F67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AirportCatalog.lookup(code)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115E83-69D6-43BC-9098-92E67B41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53E8FA-4C13-4EFF-94BB-E5463B1A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FE11BE-484E-4AF3-8CC7-6946E0A8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6FF545-A619-4443-9B93-3DFE9CC1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485608-31B1-43D5-97EC-A408FB4B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expand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8E2C4D-0382-463D-AA4E-29D73923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AirportCity.getAirports()로 leaf 목록 반환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C296BF-81EC-4824-A564-0F7F5873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3FA1B9-433C-4CD2-9D5E-89C0D80D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D50831-8DC2-4643-A211-C1DCB8DB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BEC058-2012-461E-800A-6FCC7092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7ACE9B-18AB-4ED3-A25A-7436C101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search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5D888F-AADE-4B7F-89FC-6556FF56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FlightSchedule.matchesDirect(from, to, date)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78A6BE-4D40-4184-A095-A206A457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B5B823-108B-4A44-8016-F6E27400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0E11EB-006D-4203-A856-15122E8F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41E670-F1FF-469F-ACA9-5268099F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TYO를 넣으면 NRT/HND 같은 소속 공항을 한 번에 검색한다고 설명한다.</a:t>
            </a:r>
          </a:p>
        </p:txBody>
      </p:sp>
    </p:spTree>
    <p:extLst>
      <p:ext uri="{BB962C8B-B14F-4D97-AF65-F5344CB8AC3E}">
        <p14:creationId xmlns:p14="http://schemas.microsoft.com/office/powerpoint/2010/main" val="201849785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C32977-593E-4CC5-9060-FE3FD51D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E518D-7F9F-4DA0-9CCC-5D8700E4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688F6F-DA70-4E9B-94ED-F40AFFBB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DP#5 Singleton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1F856-C119-43C2-8F3C-2DB671FD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전역 설정을 AppConfig 하나로 유지하고 listener로 화면을 재렌더한다.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1FAA6-C785-43E3-A135-8C617217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71576-9E9F-4151-A3B9-6320CE79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32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5EFE6-87C2-4425-BFF4-619B15B0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5E86D4-EF5E-40D1-A6E3-49E15326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E9432-1485-4288-83D8-902B7318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3A23C-1C07-4C4C-B13C-963BD87A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6CBB1E-6FA7-47C1-80C0-A6475A07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67000"/>
            <a:ext cx="20478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4A601-D5B1-464D-BA81-B6F25A04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670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2C8190-E7C4-4B64-BE79-41A4E0E1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43200"/>
            <a:ext cx="18954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5C09E7-D085-45E0-91C9-27C5F9E7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48000"/>
            <a:ext cx="1857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instance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Singleton()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2C8D2-28A8-4D31-98A9-2B6B8F0F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71850"/>
            <a:ext cx="204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6ECB9A-DAF3-414A-8349-209BAD48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19475"/>
            <a:ext cx="1857375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getInstance()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27DB53-1FEF-417C-ADDB-DEC3E813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67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하나의 instance를 전역 접근점으로 공유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A34DD-413E-4A18-A41E-FDF577CC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266950"/>
            <a:ext cx="2190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0C77B6-CE66-4DDB-8D75-C4E5F959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266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E45577-D4D0-414A-A5EE-1AC58405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343150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AppConfig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DC4690-1FB9-4BA6-9251-AA35510C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647950"/>
            <a:ext cx="2000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static volatile instance</a:t>
            </a:r>
          </a:p>
          <a:p xmlns:a="http://schemas.openxmlformats.org/drawingml/2006/main">
            <a:pPr algn="l">
              <a:defRPr sz="69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fontFamily</a:t>
            </a:r>
          </a:p>
          <a:p xmlns:a="http://schemas.openxmlformats.org/drawingml/2006/main">
            <a:pPr algn="l">
              <a:defRPr sz="69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fontSize</a:t>
            </a:r>
          </a:p>
          <a:p xmlns:a="http://schemas.openxmlformats.org/drawingml/2006/main">
            <a:pPr algn="l">
              <a:defRPr sz="69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currency</a:t>
            </a:r>
          </a:p>
          <a:p xmlns:a="http://schemas.openxmlformats.org/drawingml/2006/main">
            <a:pPr algn="l">
              <a:defRPr sz="69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listeners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C7B28E-C8A5-4203-A4B9-B9AC8B52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371850"/>
            <a:ext cx="219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62A30A-2ED0-4F99-B2B5-79FA4B55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419475"/>
            <a:ext cx="2000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getInstance()</a:t>
            </a:r>
          </a:p>
          <a:p xmlns:a="http://schemas.openxmlformats.org/drawingml/2006/main">
            <a:pPr algn="l">
              <a:defRPr sz="69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setFontSize()</a:t>
            </a:r>
          </a:p>
          <a:p xmlns:a="http://schemas.openxmlformats.org/drawingml/2006/main">
            <a:pPr algn="l">
              <a:defRPr sz="69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setCurrency()</a:t>
            </a:r>
          </a:p>
          <a:p xmlns:a="http://schemas.openxmlformats.org/drawingml/2006/main">
            <a:pPr algn="l">
              <a:defRPr sz="69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- notifyListeners()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A56F16-D81F-4BA0-B560-36E03294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91050"/>
            <a:ext cx="1504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CA18F-529B-4669-8D24-A110910B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910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85654-1684-4DF6-A649-528695A7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SettingsController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172AF6-7A03-4772-B284-EE2F7437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72050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AppConfig.getInstance()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F5E26C-95AA-43AC-8256-4F04B0F1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91050"/>
            <a:ext cx="1504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5282E4-DBD2-44D1-B6EE-073CA0B4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910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596D42-253A-4175-A472-A62E58FD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67250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FxApp/Screens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AB791B-4329-49FA-9CFA-F2A40888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972050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addChangeListener()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7DDDA0-FFBC-44A6-AC09-807F711D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91490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9BAA57-B911-4283-A89E-6ED784B8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7720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BBA830-CAE0-4157-93DE-C993BE0C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7148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same instance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759602-73D7-4454-B56B-76403112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C3E4BD-B2EE-4482-BDDD-44D99DE6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2C0F10-CEFF-4C1F-91E0-DC64326F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AppConfig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977F09-2FD7-4221-8771-33524292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private static volatile instance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9E5C13-E585-41CE-AC90-A4B2ADDE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ECC42D-E823-4C4C-BAAA-C1CE5FA6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Private constructor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32EDF4-C259-4CCD-BFC7-90B537BB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AppConfig()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8D62A6-7572-4690-BE7C-6060FE37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외부 new 차단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B11051-182C-4065-BF40-E97AA206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2C699F-FD24-47C8-959A-C5D84476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Access point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7B6577-CFF4-42CC-B49D-E46D0F91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getInstance()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112B16-A057-41DD-816B-108C99FF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double-checked locking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8E446F-4117-4F89-8198-34079E38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DF1AF7-C35D-4B51-A1E8-52FE4E74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Change hook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B5D7C8-6366-4865-969E-AD8D1640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listeners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5A1E68-9554-4CA5-ADEF-150D23AD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font/currency/theme 변경 통보</a:t>
            </a:r>
          </a:p>
        </p:txBody>
      </p:sp>
    </p:spTree>
    <p:extLst>
      <p:ext uri="{BB962C8B-B14F-4D97-AF65-F5344CB8AC3E}">
        <p14:creationId xmlns:p14="http://schemas.microsoft.com/office/powerpoint/2010/main" val="900967525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AA1031-643D-4851-9723-2A3958B1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3E122-32EE-4205-AB7E-DCD24E72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0EBE35-B0F6-47B0-BC9E-FE38834B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DP#5 Singleton — AppConfig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A1D97-99DF-4C72-B431-64A5F28B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설정 변경이 같은 instance와 listener를 통해 모든 화면에 반영된다.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46A4B0-B801-4D0E-89AB-14BBE536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2098A-9417-4CC9-93A2-A39F6816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33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EB34B-946E-435F-B4D8-B5649045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2B9C6-1612-444E-B08F-B654E1F2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DC633-2768-4AA0-BD64-6819B4C3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public final class AppConfig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static volatile AppConfig instance;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String fontFamily = "Pretendard";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int fontSize = 13;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Currency currency = Currency.getInstance("KRW");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final List&lt;Consumer&lt;AppConfig&gt;&gt; listeners = new ArrayList&lt;&gt;();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AppConfig() {}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static AppConfig getInstance()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AppConfig local = instance;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if (local == null) synchronized (AppConfig.class)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  local = instance;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  if (local == null) instance = local = new AppConfig();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local;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void setFontSize(int fontSize) { this.fontSize = fontSize; notifyListeners();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D18AE-3EF0-4EB8-8843-2863F7DA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020DA-B54C-4687-B3E4-9BFCF22C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488871-D461-474B-B579-D74FD60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4A211-8FB9-432F-B19D-4EC5EA3F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설정 화면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E1B6C-E8BE-4750-8712-84BC75F3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font/currency/theme 변경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D85CD2-DA83-46A2-BD61-3337965A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2DF4DF-E67C-44E9-BD33-751D6E3F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DD58D4-0DE8-4C34-9345-B1B131DD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BC1E54-A71C-4211-AD5D-93A3A9C2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FE2CC4-95A4-41C4-8145-B567E1AC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단일 객체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0F20F8-58B7-4F8F-B56B-DD8BFA96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AppConfig.getInstance()는 같은 instance 반환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31D896-3314-4570-B069-A6FFAA9F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5178B1-D690-4DD3-9FF1-DD4A7AA1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8916A3-0132-4684-B117-06B78120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678FB1-623F-4EC9-82C4-DD9315B5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5F6537-35D7-40A8-944B-4167E58A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통보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65A517-3FE3-4D76-8D2B-F4F78C09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notifyListeners()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64BCAF-1CEA-4E3B-B60D-6D944E05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7D3B42-DF3F-4275-8E7B-ECEA0AAF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45C5B7-293C-4709-95EB-DFD50EED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448F6C-2997-4544-87A3-EE374E01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A04246-B75E-44E5-8AC9-102E6318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반영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75728B-E459-4B7F-9AE0-9DDAA77D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FxApp/Shell/Screen이 style 재적용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20FEB7-194C-41EA-BEB3-4DF19742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9EDA76-E61D-4558-8F2A-775FCBC0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C15A94-DCB4-426E-8B97-D9843C58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08F9B8-8E0A-4F89-83D1-C22DB58F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Settings에서 글꼴/통화 변경 후 다른 화면에서도 유지되는지 보여준다.</a:t>
            </a:r>
          </a:p>
        </p:txBody>
      </p:sp>
    </p:spTree>
    <p:extLst>
      <p:ext uri="{BB962C8B-B14F-4D97-AF65-F5344CB8AC3E}">
        <p14:creationId xmlns:p14="http://schemas.microsoft.com/office/powerpoint/2010/main" val="150648016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3A6855-512E-4322-B56A-B71EB77F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5F81A-054D-4C12-AEFC-9CD2A671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E738C-6C1D-4136-A4C0-8C61E0BE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DP#6 Factory Method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7F461-3B91-4BC3-AA9D-5CEA0BFB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정확한 매핑: PaymentMethodProcessor와 ItineraryFactory가 Creator, static factory는 선택 helper다.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FEAF3-02FB-4B7B-ABE4-0085D95C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F94CD-6453-4AF1-A0C9-4BE5824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34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D28B1-3CE7-41B1-88FB-EEC7265A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DFCB3-A225-47A0-899B-3553C10F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3F98C-A4D9-4600-8164-7C0E2915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E0A26-C2F4-41AD-8675-4165EB99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A037E-49CC-4C0B-87A0-AB0116F2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00300"/>
            <a:ext cx="1676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C36AEC-5BD5-49B7-8A50-062FACAD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00300"/>
            <a:ext cx="167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E6121E-33B3-44CD-A7FE-8654A0B4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Creator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467825-D9E7-428D-9A0C-31393EDC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81300"/>
            <a:ext cx="1485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factoryMethod()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5F715-077E-4CDC-938A-13AA0B3F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514600"/>
            <a:ext cx="1257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68D5B8-305E-485E-B54D-5D6C2F8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5146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28395B-3880-431C-A66D-3ED13B45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9080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Product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8164A8-7F6F-4524-8C43-BD92BD72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19600"/>
            <a:ext cx="167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AD0E1-7A7D-40DB-B66A-01DCD345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19600"/>
            <a:ext cx="167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5EE36-59CA-49A0-A2C3-E2386D4B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95800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ConcreteCreator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66CEBC-2175-409F-A7F2-6D355F5E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800600"/>
            <a:ext cx="1485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factoryMethod()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131622-707E-4DCB-A5EC-B04BFB64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14850"/>
            <a:ext cx="1257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5ED79-F865-425A-B1CB-5EF38AFB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148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DC70B-2A07-45E7-918E-F970AF32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591050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ConcreteProduct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1167AD-0609-49D1-BA06-E4B1AFAB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956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E3A85B-D9FA-481B-B635-AF176E48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7527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638EDD-9391-4121-BB89-C644736B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6955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creates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8EE9A1-B14A-4DE3-B02D-3A5F8C59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48225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11669B-916C-4950-BE8B-84A442C0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7053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65C719-564B-48AF-9B64-CBB5A382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2885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DAD232-4443-45E7-9794-F75E6BD6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288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BA60B2-3F65-45DF-85F8-5FB5B69B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05050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PaymentMethodProcessor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356ACD-DF5F-4DCF-BC69-09C0E3F9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09850"/>
            <a:ext cx="2000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createPayment(amount)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processCharge()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5984D4-0518-442C-BEC1-F7D7E2E1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47900"/>
            <a:ext cx="1714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3FECA7-CC06-467A-B99B-415856DB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479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FECDDE-52E7-453A-A8F1-4B26323A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3241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800020-BA54-4EEC-810C-E1FE6D19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289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method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amount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C2A7AB-6667-4218-BDC8-3877BF34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8130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1E3A71-AF63-4766-8925-77F06412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6384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567299-5011-457C-934C-7C29E739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812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creates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F9F540-5652-4AB7-AE7F-2ECA720B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4335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06608E-FB04-4DAD-A614-6EEA31F9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433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55FA6F-2D4D-443D-9A2B-1EA8A4F8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19550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ItineraryFactory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14BF43-13CD-45DE-8D1F-B84F06E0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24350"/>
            <a:ext cx="2000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createItinerary()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final build()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799805-F22E-4C67-9AF4-9885DC49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962400"/>
            <a:ext cx="1714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4ABEB4-4BCD-4612-A06D-38A66697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9624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6A8DF7-6D9E-4FD5-863A-173FAE0F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38600"/>
            <a:ext cx="1562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Itinerary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14360-F28B-4E09-83C4-799E155A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434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segments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tripType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F8A51F-1F79-4921-B8D6-DF548B17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3F1DE9-7DBC-432F-B766-D0BF9660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3529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0E7DE97-0B5A-4F2E-A690-A2057238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957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creates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70922E8-2B0B-4F0B-802A-8FDFF8E0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410200"/>
            <a:ext cx="219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99B0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834775-972C-4B92-A847-EB067667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4102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E99B0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FED3DF-26D0-4BF4-BF6F-D75D008A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486400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PaymentProcessorFactory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17629C-6617-41F3-A868-654FA7F4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79120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selector/helper: forMethod()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FC349CA-675A-4810-8CD2-5B7CAD04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E4C9D27-FC39-40EF-90EF-922BD19E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Creator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E77FCA9-AB58-4557-A13D-B4A29EAB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PaymentMethodProcessor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12BBD73-DE57-4519-B922-E3F8DA0D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createPayment(amount) factory method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13A5396-942E-4B08-A933-10070BEC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46755FE-F182-4233-87F7-BF57B9A6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Creator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E1873DF-F0E7-4698-905B-7F279B8B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ItineraryFactory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F738B2E-B5BE-44EB-BC2A-D6EFB0C9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createItinerary() factory method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846D080-B9E7-490D-BBF8-3B183C7F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2478ED-32AA-4B3C-BD98-8AE376CA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ConcreteCreator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1986C80-03E0-4521-869A-F6434C3F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KakaoPay/Apple/Mileage, Direct/Connecting/MultiCity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8E20EC-D952-4E06-BE00-5B71CCB5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각자 product 생성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913BBFD-3977-41C3-AF04-E31842C0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FE813A4-A61A-4ABD-AE35-26C90EBF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Selector helper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C5FC07E-D53B-4224-90EB-2F5F74FA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PaymentProcessorFactory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138FAE6-DFD2-4D49-85A5-21631EF1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method enum을 concrete processor로 라우팅</a:t>
            </a:r>
          </a:p>
        </p:txBody>
      </p:sp>
    </p:spTree>
    <p:extLst>
      <p:ext uri="{BB962C8B-B14F-4D97-AF65-F5344CB8AC3E}">
        <p14:creationId xmlns:p14="http://schemas.microsoft.com/office/powerpoint/2010/main" val="1164871505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574848-DCB6-45F9-B818-BF9CD7FA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F1E090-B338-4D08-9016-91258FDF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136FD-71D8-4957-B1B9-4DC57195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DP#6 Factory Method — Payment Processor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703D3-67F9-443A-AA34-AEEA1080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결제 수단별 processor가 자기 Payment를 생성한다.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79C47-F41D-4731-B591-AF5FFD14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C26CB-FB19-4CE3-AC1E-9E2AAAEC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35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30484-7DC1-41F8-866B-74FC910E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F29E9-FACA-481F-BE05-3344DF21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F96E3-EACE-4ABC-B3C5-9B36C1FD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abstract class PaymentMethodProcessor extends EventPublisher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abstract Payment createPayment(long amount);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abstract PaymentMethod method();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Payment processCharge(long amount, String pnr)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Payment payment = createPayment(amount);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boolean authorized = authorize(payment);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if (authorized) payment.pay();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else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  payment.fail();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  publish(new PaymentFailedEvent(payment, pnr, declineReason()));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payment;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class KakaoPayPaymentProcessor extends PaymentMethodProcessor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Payment createPayment(long amount) { return basePayment(amount, KAKAO_PAY);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14EB4-9E00-4036-A602-7BC3A1FC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9EC3-92D3-440F-ABBA-F9B69E2E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C6B4F-5063-4738-93AA-A5B2558A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97D6DE-4C0B-4935-A8E6-FCAB2E5E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method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0AEA9-F44C-40B9-BD48-22241061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Payment screen에서 카드/카카오/마일리지 선택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49671-4939-42D4-BF66-59E7DC7F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B0E45-D399-49DA-BBBA-D06E4777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47B18-D47E-4D46-BD63-8D3B626B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482B4B-4F22-428D-8470-F1FD39A7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D6CE0C-1A50-4181-80B7-AA81A070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selector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971E0C-C3B4-4736-9364-BCA12E6A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PaymentProcessorFactory.forMethod()가 concrete processor 반환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D83E79-FCA0-4FC8-ADD9-696D6D53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76E3BD-A13F-49CE-AE44-53DEEE69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834041-0E13-4C89-987F-6232443D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4BFEFA-CC48-40D3-922F-CD0DA8EC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DA7911-8FAF-468E-955C-8F7B018C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F58C29-F037-46AB-8B42-0BDF6A40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processor.createPayment(amount)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5454C4-2CF2-49E4-94D4-C3DC9287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BDB06A-5804-468F-8F87-EB8EAA59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4D1375-10AB-4355-83E2-D652E4AE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DAC0E4-C5C4-46A9-A0E8-8F547517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F7A006-89F2-4A01-96F6-C88B18D8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후속 이벤트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BBAC1E-7884-43A5-8C47-9495D361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실패 시 PaymentFailedEvent publish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61AEEC-AF4B-42F7-B758-1194538B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B4B0F1-4464-4740-9830-7DABDB54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9EBB99-223E-48C6-94C7-13C39AE1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CBE344-5A25-4FFE-A540-10F50BFE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Factory Method와 Observer가 결제 실패 흐름에서 연결되는 점까지 설명한다.</a:t>
            </a:r>
          </a:p>
        </p:txBody>
      </p:sp>
    </p:spTree>
    <p:extLst>
      <p:ext uri="{BB962C8B-B14F-4D97-AF65-F5344CB8AC3E}">
        <p14:creationId xmlns:p14="http://schemas.microsoft.com/office/powerpoint/2010/main" val="736773486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5E3F14-06DC-44DB-B7CA-2BCA69BC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19C93-B113-4287-B578-3CF7C97A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F1996-9936-4DB8-8336-81A6E035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DP#6 Factory Method — ItineraryFactory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9C4C4-C332-4F9B-9ECF-F5C4D82C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Direct/Connecting/MultiCity가 같은 build 흐름에서 다른 Itinerary를 생성한다.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D5F49-FD39-419B-B092-1550C6B0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E477C8-20D5-4CE1-BB9D-D38B02C6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36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82C84A-350C-42A0-92B6-D70CD670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F8D44-88ED-40ED-BC34-DF2C83B4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95036A-983E-4462-AAF6-3A52CAB7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abstract class ItineraryFactory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final Itinerary build(List&lt;FlightSchedule&gt; schedules)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validate(schedules);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Itinerary itinerary = createItinerary();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for (FlightSchedule fs : schedules) itinerary.addSegment(new Segment(fs));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postCheck(itinerary);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itinerary;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abstract Itinerary createItinerary();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abstract void validate(List&lt;FlightSchedule&gt; schedules);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class ConnectingItineraryFactory extends ItineraryFactory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Itinerary createItinerary()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Itinerary it = new Itinerary();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it.setTripType("CONNECTING");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it;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BC833-4D3C-433D-B4BA-F85863E4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C4EFDC-7EF9-4A10-931C-F1015E1D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459942-D8BE-4F9B-96EB-894865B2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85187-A0D2-4CB1-9B99-8C0A9B04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검색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9FDD9C-1434-4A1A-9C7F-933A28F2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include connections 체크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EFB0B9-2561-4CCF-84E7-43C1BC1D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E5A5A0-5F8B-43D6-9311-B591C5E4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FC621B-2AE4-4DB7-B614-1C45DA29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58D7E-487E-4C4B-B315-F5B9C060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8F9459-AD1C-449F-8E73-94E0303F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factory 선택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2B1CD-E0AE-46D6-A003-8D08FF4C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ConnectingItineraryFactory 생성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0E1AD0-B9F9-4DF1-B0B5-5F6F85EB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9378F8-5690-4189-B150-DC090053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D3C3A0-D141-4205-A234-A972B1D0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79F649-723A-4F01-8AC3-91E00A57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80C254-E60D-43CB-97D2-01F5CBD7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생성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28CE02-AD89-4CB6-A0D3-BC3A06DC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createItinerary()가 CONNECTING itinerary 생성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018ADD-D219-41C6-8A24-A87F6FF7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D6482D-33A6-40AF-931B-47423815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E8F73C-F5C0-42BD-B1E5-CC060220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1CA9C9-03D4-4A46-9F9A-76D8A72A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BD0EC4-5EE5-403F-8765-833C3676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431B4D-939D-4B35-8C6C-C80EBEA1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validate + postCheck에서 MCT 충족 확인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44459-2DCC-4859-BF78-68D3CA85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B48E73-6026-4BD7-9655-EB9C5DA3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17CE98-F700-4A6B-AE89-25629EF5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A3D415-5639-4187-9CEC-0FB14515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환승 포함 검색을 켜고 Connecting itinerary가 factory로 만들어지는 장면을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895889847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82ACE5-0275-4555-A2E8-2D436122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9015F-BFC3-4B11-992A-8D85BA66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9122B-B89E-4089-83AA-ABF81042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DP#7 Template Method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4A470-E26D-4483-8D4A-06530DEF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e-Ticket 렌더링은 header-body-footer 순서가 고정되고 포맷만 달라진다.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382C21-45DB-4638-A905-F886CFBD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26710F-8567-4C1D-A17A-6576C971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37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FC45F-2623-4326-91F0-B2438C23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348371-D04C-4E9B-BD34-25C69A4A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7ABF4-3C4C-48C5-8C78-E65F8302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B4115D-C09E-4D2C-BC90-5705031A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9A32D-6F41-4B49-9421-060E4FA4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24100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A0FD8-9FAA-4739-9186-DF25462D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241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4662E3-DB9C-4AFA-BAC6-C1C66893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400300"/>
            <a:ext cx="1847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AbstractClass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3DACC-A924-495E-B0D8-38C04D60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0510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templateMethod()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primitive1()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primitive2()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DF9A2-D4F9-465E-A8CF-3F05C652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62475"/>
            <a:ext cx="200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58485A-3717-4CFF-8816-F112D84C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624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90BFE2-4255-4408-A4BF-45477372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38675"/>
            <a:ext cx="1847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ConcreteClass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880902-3FBA-4C73-BD1D-06A9F5FA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434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primitive1()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primitive2()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66EE2B-285F-412F-9283-DC14C5A7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562350"/>
            <a:ext cx="190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E2FEEE-6EDC-42D2-A548-5D580138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3910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F642A4-E050-40D7-928B-AD5B2894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895725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templateMethod()가 순서를 고정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6C7404-4E45-4F9E-A611-234998A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21431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8A72D-5EFE-401E-B708-4F5B925E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2143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6496F4-73CE-48F1-B22D-8EF9EF5A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86000"/>
            <a:ext cx="19907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TicketRenderer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90DD2E-C517-4DCF-BDA1-D3E4C97C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90800"/>
            <a:ext cx="1952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final render()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header()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body()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footer()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separator()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CD61D0-C76A-467C-A02D-E855DD47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910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1BA232-AFF4-4705-B8FF-BD292158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91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BD9B6A-0F74-401C-87EF-DB33893A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672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PlainText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3A6F3D-B6AA-43FA-8921-ADB66B8B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1238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body()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EE7E8-CE42-4929-AFF9-4B8942C3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910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7D9C3C-1713-436E-B191-706B37D8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91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4A5142-F75E-443A-836A-5B4BCB75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672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Html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5307B4-D56A-45B8-A903-5AB8EB86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72050"/>
            <a:ext cx="1238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body()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109646-631B-4850-BC8E-CA7E1841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910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694E04-9403-4F1B-9009-0383490F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91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6F159E-ABFF-40EF-90C6-B73302B7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6672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BoardingPass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235D9E-E9EC-497A-ABC1-6AE2A54E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972050"/>
            <a:ext cx="1238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body()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73FAF1-1C1F-425E-BEAC-4567F7E4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385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9C1991-816C-4547-9189-48E38FA9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419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3568B9-CE85-4005-95C4-38EF56B0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385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5A9A9A-DEDD-4109-9896-3FF04ADA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419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F5303D-C540-40A6-A78B-F0714DB1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385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F52091-4893-4D58-970F-F6C2A13A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419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07B489-0B81-4C12-BCAC-1622CEFA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C91DA7-D145-4AA8-B394-ED50EDBB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AbstractClass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60BF6D-6294-46B0-85FF-D31E716C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TicketRenderer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DAF211-06F6-403B-93BF-1E2422EE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final render(reservation,ticket)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719EED-1C92-4F21-8E03-56E61F5E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0277351-9D92-4B1C-A690-5EC665D4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Primitive steps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B12C19-FFD1-4A4F-BD10-F6E5A83C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header / body / footer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4A1FB1-938B-4961-9143-7079AD67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subclass 구현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BD329F-8338-4C14-8B83-C74DD741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DCFCAC1-F366-4C1F-BD09-C4708F08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Hook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535B67-5346-4345-A560-09A156F1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separator()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7A26F0-5922-4CBB-BB2F-BEF466BD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기본 newline, override 가능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2E171F-43C5-4B84-9DEB-282E0E01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5CA6485-6AA9-4E14-88E4-0EB63215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ConcreteClass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6A7E691-A1F3-4EC6-822B-C75294C8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PlainText / Html / BoardingPass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5809A4-B557-44A5-B2A3-626B5ACB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동일 데이터 다른 출력</a:t>
            </a:r>
          </a:p>
        </p:txBody>
      </p:sp>
    </p:spTree>
    <p:extLst>
      <p:ext uri="{BB962C8B-B14F-4D97-AF65-F5344CB8AC3E}">
        <p14:creationId xmlns:p14="http://schemas.microsoft.com/office/powerpoint/2010/main" val="109887532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400427-DF98-45E7-A49D-AFD5D775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AB6A4-DDA2-46E1-9C40-2322EC44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B6DA9-8B93-4875-A1AE-C5ECA745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DP#7 Template Method — TicketRenderer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AF0AD-1FAA-4F67-9B90-A24B8156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확인 화면에서 같은 ticket data를 여러 포맷으로 렌더한다.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3C7E3-FFF9-45DF-B99F-80D547C7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018C7C-21BA-4B82-83E8-DF704644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38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E5887-5027-4D87-9F6C-4D31841A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A49A2-E200-45D3-8FE5-558CE08F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2264C-A901-47A8-B2CB-908B48DD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public abstract class TicketRenderer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final String render(Reservation reservation, Ticket ticket)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StringBuilder sb = new StringBuilder();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sb.append(header(reservation, ticket));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sb.append(separator());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sb.append(body(reservation, ticket));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sb.append(separator());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sb.append(footer(reservation, ticket));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sb.toString();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abstract String header(Reservation r, Ticket 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abstract String body(Reservation r, Ticket 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abstract String footer(Reservation r, Ticket 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protected String separator() { return "\n";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53ACB-E5FD-481D-A8A0-B60C1D53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4AC452-7CF0-4030-9718-C988A48E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8D2B7-EA27-4BC1-ACA4-47F41EDB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AB70D-4F2E-4202-9F45-2687F91C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ticket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15B766-749A-41EF-876E-B2370919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Confirmed/Ticketed 예약에서 Ticket 선택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A4CE8-DDBC-4759-8836-047F2DFA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D93C30-ED6E-4879-91C2-53F1A31D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15D9F-44D8-44D6-A520-262FF693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6FB2F-BF7A-43FC-81D3-118CA0B7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7B4B3-A8DC-45F9-91E3-FE638708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format 선택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A483EF-0023-49E8-A9D0-EABCA4ED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PlainText/HTML/BoardingPass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F061A5-0DB4-430F-8B0F-6B46B007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F974F9-499B-4F03-8969-F8008851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9CDA3A-40B9-4235-8D22-71E0E851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ECC65C-6DDA-47A2-9701-44481057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1A800F-756F-4BC1-A557-86D88598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template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BA165F-6FF0-4980-97A2-FC3EA4D4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render()가 순서 고정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95A155-5E55-467C-948F-AD7A9879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B2CE52-F87E-4228-B864-42D62784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55E451-56AC-4D42-AC8C-0F91C9C0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8020A2-D236-41BA-8A5D-BD224ECD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5DC246-3D7C-4136-B8F4-69EADD2E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primitive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9448A9-9C2D-4703-8B58-E16751A7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각 subclass가 header/body/footer 표현만 바꿈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7927AA-10F2-4DCB-80E1-1261B32F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38F7A8-727D-4C3F-9A02-68F41F6C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C05654-2A52-4DE1-A7DB-8E862C66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960BA9-5527-4043-8C42-5F67D59F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확인 화면에서 e-Ticket 포맷 토글을 보여주며 순서 고정과 표현 변경을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96371171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02B848-DEF2-440E-8E09-A5BF592E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86C8EA-0963-474E-8752-0A08B0DF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118B1-9B51-4A7F-8B84-DEDDB459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DP#8 Adapter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3EC58-F032-4948-B69A-C500083D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외부 Skypass API의 raw Map 응답을 내부 SkypassInterface로 변환한다.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FA436-67E2-4A84-808C-003D5209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8E9C6-99DC-40EF-B796-FD82CBB6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39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2FE34-81D8-49EC-A5EE-E8329DCB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E502A-9B68-4B2F-93A2-BE72091F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BD8C0-85B6-4B37-A3E8-49FE984F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164F8-B554-4DC9-A29F-78D053AA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CF77E-E7DC-4B4F-AAA8-43AA05FC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1238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117087-453F-4234-B407-C2234C1C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7403B-03DE-41D5-A993-7663FCD0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86050"/>
            <a:ext cx="1085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Client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C89E5-0989-4F14-9960-D7B43E36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193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F22320-7C74-4998-9D94-6B405F7C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193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FBA6D3-6342-4A47-A1FD-305E922B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9555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«interface»</a:t>
            </a:r>
          </a:p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Target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0313F-DA52-4C27-973E-2F5E1BBB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003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request()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B542CF-83A3-416B-874D-E3C01CCA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57700"/>
            <a:ext cx="1428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FB3DA-6204-4902-861D-07FD5FBF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577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E85307-9466-4CF0-BE97-673DB802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533900"/>
            <a:ext cx="1276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D830A4-FAB4-464F-9C33-16920EFB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838700"/>
            <a:ext cx="123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request()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7CFF11-E22B-4FAC-961B-61461658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14478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67906B-0A13-4235-B60D-D7706B46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1447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D32A4C-188F-4714-877B-C470FF81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Adaptee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70CA19-E1A3-4B7F-9BB7-F6D1ABEC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838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specificReq()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29BB16-2ADA-4335-97F8-329BFA1E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43225"/>
            <a:ext cx="1314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F97E08-8676-4198-9CC7-645CC14E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8003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D5A23D-02ED-40F5-BBE4-851768DB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7432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Target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4FC31C-B621-4FEC-9449-4276823D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295650"/>
            <a:ext cx="190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D89FEF-3583-47CB-AA67-B36898C2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2862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B8CAB1-460D-4688-A24D-402A5E35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102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39DC44-D23C-4BBE-AE9E-2FAF365A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7339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878ACF-603E-4AC9-A42E-8460F21D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767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2F7DF6"/>
                </a:solidFill>
                <a:latin typeface="Apple SD Gothic Neo"/>
                <a:ea typeface="Apple SD Gothic Neo"/>
                <a:cs typeface="Apple SD Gothic Neo"/>
              </a:rPr>
              <a:t>adapts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BF9D74-CFC5-4B4B-AF42-D592AF05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66975"/>
            <a:ext cx="1476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84D1BF-75EA-459F-94C8-185C967B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66975"/>
            <a:ext cx="1476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912AD0-1480-4FB9-8E13-D9234A01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43175"/>
            <a:ext cx="13239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Payment UI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DC5637-7057-4FCC-A560-F40D9B16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47975"/>
            <a:ext cx="1285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uses Target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8A790E-4A18-4E52-A1E5-C3A5D3B7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47900"/>
            <a:ext cx="16954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7DB602-A417-49DD-B2C3-3C4DB6BC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479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CB16BF-E570-4190-9871-2EE34BCB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24100"/>
            <a:ext cx="1543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SkypassInterface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4FA6FBE-644F-4750-9BAC-8064F5B7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28900"/>
            <a:ext cx="15049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6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verifyMembership()</a:t>
            </a:r>
          </a:p>
          <a:p xmlns:a="http://schemas.openxmlformats.org/drawingml/2006/main">
            <a:pPr algn="l">
              <a:defRPr sz="66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6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getMileageBalance()</a:t>
            </a:r>
          </a:p>
          <a:p xmlns:a="http://schemas.openxmlformats.org/drawingml/2006/main">
            <a:pPr algn="l">
              <a:defRPr sz="66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6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deductMileage()</a:t>
            </a:r>
          </a:p>
          <a:p xmlns:a="http://schemas.openxmlformats.org/drawingml/2006/main">
            <a:pPr algn="l">
              <a:defRPr sz="66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6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verifyAndDeduct()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C8833A-B1F1-49C8-A921-7390419B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438650"/>
            <a:ext cx="16954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E4B9F4-5674-4785-9B9D-61758A79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4386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666862-A1F5-4F63-A715-4CB9E664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514850"/>
            <a:ext cx="1543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SkypassAdapter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A9D35-4232-44FF-AD5B-8092CBA1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819650"/>
            <a:ext cx="1504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remoteApi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8EF29B-AED0-49DE-9A06-9A39BA02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010150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C14993-B3F3-47EA-B386-5957799A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57775"/>
            <a:ext cx="15049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getMileageBalance()</a:t>
            </a:r>
          </a:p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verifyAndDeduct()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0FDE47F-A4FD-450E-9BC8-0541E633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33900"/>
            <a:ext cx="16954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8D70E1-B250-41F3-AE45-00105360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339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DF68F5-1C41-41F7-9018-094BCAC1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1543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RemoteSkypassApi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B2B9D5-64C4-43DF-84A9-96F85B88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914900"/>
            <a:ext cx="1504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postAuth()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getMileage()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postDeduct()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28A142D-93AA-47CA-BEB7-3BE59F3A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819400"/>
            <a:ext cx="12477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7E70FF-0BA7-40A7-9C84-0777EFDA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67652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A696DA1-E375-473E-A3A4-1A4842F9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163" y="261937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Target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C40B67-BFC7-43B7-8768-A5C4DE9A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429000"/>
            <a:ext cx="190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E744A1-316C-4B86-9EBC-CB0C9D9A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672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1A4B90-2FA2-4CDF-AA52-47398250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933950"/>
            <a:ext cx="990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74DA5B-7FD9-4F5B-AAED-5B20C6E1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7910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14B00B6-6924-4334-AFA1-564D143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33925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adapts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97634A3-52DA-49B5-9893-8F3C338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896913F-888F-4BD9-854E-595750F3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Target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03D0A58-10F8-4D4C-85BA-49E65AF7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SkypassInterface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28636E3-9FF5-4CEF-89C1-7DE1534A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verify/getMileage/deduct/verifyAndDeduct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25785BB-D27D-411B-87F3-AE5DA384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E45D705-BD13-4D0A-9A53-BDADD0EB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C0E55CA-8C5C-4C8C-8949-7916DBE1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SkypassAdapter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94C6F3-6FB6-4A08-B0F8-70E0146E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remoteApi를 감싼다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C215A5B-090C-42F1-B7F7-CF66E988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4ADD7DC-A972-43A1-BE88-D0BCEAAF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Adaptee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7DFB9C0-D8FA-401E-86DE-92171BCB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RemoteSkypassApi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717B992-4A13-4F63-9755-C436F8FC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postAuth/getMileage/postDeduct raw Map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7FA0A74-40F4-4F7B-93C7-72B004FF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1D3BF89-384D-4DFA-A491-44784261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Client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8D63861-5C0A-41D5-8E47-50D59AA9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PaymentController / PaymentProcessor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57EE237-CAF2-42FC-ACA0-E65FB58B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Target interface만 사용</a:t>
            </a:r>
          </a:p>
        </p:txBody>
      </p:sp>
    </p:spTree>
    <p:extLst>
      <p:ext uri="{BB962C8B-B14F-4D97-AF65-F5344CB8AC3E}">
        <p14:creationId xmlns:p14="http://schemas.microsoft.com/office/powerpoint/2010/main" val="60968078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C5F765-05F8-4B3A-B1E4-4F34BF43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399BB-430F-4DDB-B7EF-1B41E1BA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35CB6-B72F-42F4-8217-C43326CF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DP#8 Adapter — SkypassAdapter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5B5717-03A0-412E-A4B6-71248BD9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결제 화면은 외부 API shape를 몰라도 마일리지 잔액과 차감을 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E7071-F80B-4522-8E65-C3081556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C9132-F71C-4EFE-AD1A-4DE0D60D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40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CD24A-5B27-4055-9661-C36C427A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12BC0-D430-4285-906D-B7CE1FA7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C40D3-C211-4101-BE80-5D3E0143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class SkypassAdapter implements SkypassInterface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private final RemoteSkypassApi remoteApi;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int getMileageBalance(String skypassNumber)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Map&lt;String, Object&gt; res = remoteApi.getMileage(skypassNumber);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Object bal = res.get("balance");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bal instanceof Integer ? (Integer) bal : 0;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public Object verifyAndDeduct(String skypassNumber, int amount)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Map&lt;String, Object&gt; check = remoteApi.getMileage(skypassNumber);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Object status = check.get("status");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if (!(status instanceof Integer) || (Integer) status != 200) return null;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return deductMileage(skypassNumber, amount) ? skypassNumber : null;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4FC35-ED0E-4443-85A5-D8D08978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12CB6-1BC0-4F79-8F51-45FC3AFB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E08A57-4340-4F1A-8CD3-13AEF9DB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AD3834-4678-450D-A5B6-5014EDB0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회원 로그인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E24020-5B81-4E3C-800D-61ACF4EA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Skypass 번호 확보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5E014-C8CA-49C7-9E9C-7D415290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2CA81-74AE-4A58-84CC-6F49AC1E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F06D77-0DCF-4EDD-B101-D2715CF2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1DFD1-14B9-4204-B2FF-9C6A6EAA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5B3709-DFA8-4115-8EDE-D1E1A634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잔액 조회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96B68E-CBBF-4E6C-92E2-B777D620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PaymentController가 SkypassInterface 호출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ECB6D7-24EF-4A23-A23F-29E7184E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726CE-0475-42B3-AF06-6F70BA3B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D2F5B7-395E-4787-8F05-747FDB84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85584-01F6-49B0-8CBD-086091DB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10F423-D2B9-4C4F-BDD1-D56360AE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변환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7593FF-AC03-4C36-A5DB-C9998E60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Adapter가 Map에서 balance/status 추출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BA1C72-1FC2-48B1-B33A-D140F685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3B816-32EF-4E5E-B341-94057721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235B1D-3998-4C8D-8C7B-61BB416C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FF8CC9-612D-4F96-AFE3-214A9829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5FF5FA-6556-452A-B1E4-58159F30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결제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7B8364-DA00-4CB7-8F82-E1A9CD95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MileagePaymentProcessor가 내부 결과만 사용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6550B7-9A4A-404D-A8D8-26959FB2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165283-64B0-4D9F-A4B8-746DA0C2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840C2E-951C-4AB1-A2BC-C1C4CE2B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5A0D84-CD4C-4A7E-A5DC-0D9BDCE3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결제 화면에서 마일리지 잔액과 차감이 보이는 부분을 Adapter로 설명한다.</a:t>
            </a:r>
          </a:p>
        </p:txBody>
      </p:sp>
    </p:spTree>
    <p:extLst>
      <p:ext uri="{BB962C8B-B14F-4D97-AF65-F5344CB8AC3E}">
        <p14:creationId xmlns:p14="http://schemas.microsoft.com/office/powerpoint/2010/main" val="1034787446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3DE049-1EA5-4FB9-8AAF-4312B99E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F0453A-BB12-479E-92E9-FA87B8C2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PATTERN REFERENCE VS TEAM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31FD9-0266-4466-8DCE-38D90C1A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DP#9 Decorator — Reference vs Team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953A2-9041-4878-B435-2CB38AB5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좌석 옵션 조합을 class 폭발 없이 wrapper chain으로 누적한다.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1BECA-B011-47C1-A89A-18422491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433F9-11E6-4007-B7FD-4CFD1447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41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71EED-B18D-40D1-A299-6B5E643A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B5BDCA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65B86-5B9E-476C-A322-AFC61D95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교과서 GoF 레퍼런스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05F431-7CB4-476E-B96B-DB23147A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62100"/>
            <a:ext cx="5619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0478">
            <a:solidFill>
              <a:srgbClr val="C00000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9D7393-B929-4D80-BADA-C6FE22ED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39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우리 팀 구현 · 실제 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1EAF39-E9E5-4C42-B643-C2454EF6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28850"/>
            <a:ext cx="1524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3878E-7238-45C5-82DD-0C5956C8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288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B27800-9C90-4135-A5CA-7196926A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050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F8BFB-0367-4B38-8E2D-8284C77D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6098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F248AC-BA4E-406F-8287-1C45ED87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05300"/>
            <a:ext cx="152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98D073-437D-4E50-838C-CDF921E5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053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4077F-E416-4299-A7AD-B708A937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ConcreteComponent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294275-63B7-4FA1-AC92-12662908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C0EF2-0421-4708-AA65-EDFF7252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9433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4355F7-49E2-4DFE-A95A-F74ED163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9433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9947C7-9FE0-4677-AE6B-5F92EA27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CAA58A-5458-4DFD-9560-800E7CD2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243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component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56B25C-B60E-4217-A77D-E2F83B0B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514850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771D43-0F41-4902-A3A3-4D64E8EB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562475"/>
            <a:ext cx="1333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operation()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2FCBE-BC86-444E-884F-F8D13DE0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419725"/>
            <a:ext cx="1524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EE848E-B4BD-4DDA-9471-0DD32103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419725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C649DF-ABE1-4796-8EC5-B50525B2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495925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ConcreteDecorator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DF3AFB-4A4B-4A1E-9510-07882081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800725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addedBehavior()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20D328-9B4C-4C41-825A-AEF098FB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71800"/>
            <a:ext cx="19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D177D4-E40D-4713-8AB6-953DD4B4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338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9503C2-7E1F-480C-881C-ADF38989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718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A09B82-31B5-475A-A39F-6CAF702E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71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8CB852-E0B0-48CB-BEB7-8F0ED58F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010150"/>
            <a:ext cx="190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A3B716-BC93-4A68-B043-C42CEA4A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482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3E9BCF-A8E1-4689-A207-2D31FD378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209800"/>
            <a:ext cx="1809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0FBB1B-12E9-4A6E-A7D5-91B70F94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2098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6F5F79-47B6-4D51-91EA-9607C5A1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28600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SeatView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BAF9F0-583D-4740-8AAF-ABF1DC21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5908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getDescription()</a:t>
            </a:r>
          </a:p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getSurcharge()</a:t>
            </a:r>
          </a:p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getMetadataLabels()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EDE145-8274-4843-AEE1-2E560F19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43400"/>
            <a:ext cx="152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5D6147-4CD8-406C-9241-4FDA5012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434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C9EF2E-F717-48A6-A5B8-EC2FED43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196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SeatViewAdapter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979B1F-00FE-40CC-BF61-94B99F9B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7244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- seat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365331-578D-45BB-9932-32CD7F1F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14900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BD164F-076F-4945-AF71-C0494D7D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62525"/>
            <a:ext cx="13335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getDescription()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9C4785-4ACB-4486-B81C-11B97A07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433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F27533-054C-4B2F-B6D4-2FD4ADE9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433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207DE2-B12F-438E-A189-DAF70D68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01955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AbstractSeatDecorator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9BC5BE-2D30-4883-8355-2EF890C6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3243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# wrapped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A0D958-2D0A-49A6-A4FF-7CE7DFE4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514850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F21DB69-5AAC-4DAB-A71F-696DB3F1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5624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getDescription()</a:t>
            </a:r>
          </a:p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getSurcharge()</a:t>
            </a:r>
          </a:p>
          <a:p xmlns:a="http://schemas.openxmlformats.org/drawingml/2006/main">
            <a:pPr algn="l">
              <a:defRPr sz="690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690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# extraSurcharge()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F7FCB9B-1EB4-4CAE-834D-A2316CA1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562600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8D58CF-76BA-479B-AE07-3A4150C9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5626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54ADBEB-0E8C-43F0-9CE9-EE423A43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638800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ExtraLegroomDecorator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423684-8FAD-473F-8579-5F4204DC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9436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+ extraSurcharge()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70D688D-48C0-473F-AB4C-348D7758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81350"/>
            <a:ext cx="190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3B63249-36D6-4D62-83FB-2B77BE4C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719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0A32923-4EF7-4478-8F32-89F44529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81350"/>
            <a:ext cx="19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81ED427-F1CA-426B-904E-AAF58ECF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771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041F08A-77C1-44A8-971A-0135EAEA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124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5A5"/>
          </a:solidFill>
          <a:ln xmlns:a="http://schemas.openxmlformats.org/drawingml/2006/main" w="0">
            <a:solidFill>
              <a:srgbClr val="8B95A5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6C9DD8E-C3D7-4168-8CFE-03509374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53911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8B95A5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6E35505-E1E8-4B71-A384-94AEF996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4C599E8-4C9F-493A-9F84-6BC0D855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48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A40ACE1-042B-45E8-9ED4-2FA8BA1D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SeatView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CBC4651-FB52-405C-BC70-B3B8C11C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196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description/surcharge/metadata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E12800B-6C88-4FF8-83A0-B68CB446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910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E1EEB82-4884-4C0D-862C-88044DD8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053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ConcreteComponent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77962E6-51A5-4845-A26D-95F5B14E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SeatViewAdapter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2EA98B2-E0BA-4BB7-A381-AAC4BF3F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768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Seat를 View component로 감싼다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8459A0D-F70D-44EB-93BC-02C28A37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482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8F1EB5B-883E-41B9-B32B-C19BBA48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625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D7E0DFF-C9A5-43D8-BC00-BF43CAB9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530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AbstractSeatDecorator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D9867FA-48F1-42B5-A9C7-B733B8F4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wrapped에 위임 후 자신의 값 추가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F01F621-9B7F-47AF-B622-82BA1A38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7054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DC44B8D-AD79-43BC-8DFF-874BDCAA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97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ConcreteDecorator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B05D9A7-8E73-463C-B563-BAB4AC45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0250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1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73" b="1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Window/Aisle/ExtraLegroom/Lounge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9680766-029C-45C4-A6FB-7462DF2A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912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라벨/요금 누적</a:t>
            </a:r>
          </a:p>
        </p:txBody>
      </p:sp>
    </p:spTree>
    <p:extLst>
      <p:ext uri="{BB962C8B-B14F-4D97-AF65-F5344CB8AC3E}">
        <p14:creationId xmlns:p14="http://schemas.microsoft.com/office/powerpoint/2010/main" val="392911954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8DF1BB-703A-486A-81FE-770F9BBA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A5FBB-2925-4F1E-9984-B1DBBA52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CODE SKELETON +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A00877-BDF6-46E1-BE59-C22E1FD4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DP#9 Decorator — SeatView Chain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0947B-BE6E-49BA-A57D-38C5F214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좌석 화면에서 레그룸/라운지 선택이 결제 금액에 누적된다.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B2C7B-787F-4AB0-A66E-05AE0EE0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E4A2E-3AC3-4D08-88E7-24B2FCED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42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D61C8-DE08-4457-9755-4BA0A68D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53816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74254-C38A-44E4-8F84-98EFF047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09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실제 코드 skeleton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70E0D-65E0-4FF5-A31D-98AC037F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05000"/>
            <a:ext cx="50958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public static SeatView decorate(Seat seat)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SeatView view = new SeatViewAdapter(seat);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if (seat.isWindowSeat())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view = new WindowSeatDecorator(view);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 else if (seat.isAisleSeat())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view = new AisleSeatDecorator(view);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if (seat.isExtraLegroom())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view = new ExtraLegroomDecorator(view);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CabinClass cc = seat.getCabinClass();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if (cc == BUSINESS || cc == FIRST) {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  view = new LoungeAccessDecorator(view);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}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  return view;</a:t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6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76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getSurcharge() = wrapped.getSurcharge().add(extraSurcharge());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0FD3A-26CF-40A9-A4F5-481172B9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논리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7C98B-996F-4D08-B631-FC86886E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52D826-423A-4998-840C-775E12F0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02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F29AA2-6E53-4E2B-ADBB-5F0B575F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0C04F-0852-4473-B359-2C18C95E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SeatViewAdapter(seat)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E259A-21CE-4190-90C8-2D4A2527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F3E0F-3C0B-417E-B91B-7A124F81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202783-39B5-4308-9A59-33AD2490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3E4C5-3D7B-4A8D-9FB6-BDBAD555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860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37A3A-4D82-4DF9-A859-CB92859C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03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3B9F0A-95FF-4614-A24F-EBD3D689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Window/Aisle decorator 자동 적용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FD97F5-55EE-40B8-837E-54D5AFFD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B0EE21-D375-4511-9595-BA83C4A6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81BA75-634C-427C-B660-F2808BEF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FF2493-84BA-4E96-BBC9-28A67C60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18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3D6CE1-E81D-4ACE-8FAE-D0A16A76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861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add-on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82E2FA-37F7-41B5-B2BB-7A74281A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ExtraLegroom/Lounge wrapper 추가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224318-3869-49BD-986F-C2624EE0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21B4CB-3C1D-4FD8-9ACF-DF2B74E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EF1E7C-4887-454D-821E-8F8DDCD8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38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24C665-2BD0-47EB-9C78-C3F68BE3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310CE8-B2EB-4CB2-B767-893996E3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total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D2B5E4-35F8-4A98-8314-216D43FE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description/metadata/surcharge 누적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68EE21-2F1E-4C30-A0C7-00683652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C5F10F-47A8-4C85-ABC8-4CDAB845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7EBEAE-81DD-4F76-B881-887F6067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72100"/>
            <a:ext cx="413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시연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480A10-3B53-48D6-8277-C66BC843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76900"/>
            <a:ext cx="413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좌석 화면에서 추가 레그룸을 선택하면 50,000원이 합산되는 흐름을 보여준다.</a:t>
            </a:r>
          </a:p>
        </p:txBody>
      </p:sp>
    </p:spTree>
    <p:extLst>
      <p:ext uri="{BB962C8B-B14F-4D97-AF65-F5344CB8AC3E}">
        <p14:creationId xmlns:p14="http://schemas.microsoft.com/office/powerpoint/2010/main" val="1991969208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D87E34-BA92-4DF2-A0D0-C3E9319A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ABF54-A216-4017-9F00-7CA3242B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DEMO SCENARIOS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B1ADF-5BD1-4055-A452-225FAB6F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9 Demonstration Scenarios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389F7-8CF7-47CD-ABBB-377170E4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Google Doc의 SC-01~SC-06을 발표 순서로 정리한다.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85EE6-FAB9-42FF-9070-1BAEBFB7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0760E1-CC3C-4786-A46D-289FA414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43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8B986-81DF-47B9-83D1-195E21EF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103822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FCF3C-CF3E-410C-9BBF-0034DDC7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B5AFB2-3D85-4E49-BF78-1A4EA687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70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D21FF-A98B-4299-854D-E57A9AE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5049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6F566-9268-444E-83DF-0FDA0CF9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5811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Scenario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3E71AC-668C-43D7-B943-4AE04B1A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049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021F7-C932-45CD-865B-501EF0BD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81150"/>
            <a:ext cx="422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Expected outcome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EC5BBD-5F1E-436A-BFF3-9B8D8D3F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049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42B65A-C8A3-4A05-BC19-BE2DECD7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81150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B4196-7B02-4F9D-A0E3-FCD4C76A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70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SC-01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A0A1E-2903-4BCF-90EB-6B6AB5F6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621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FCE8EE-DA3A-464A-BEED-873FEF65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383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Guest booking end-to-end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85346-106A-416C-8660-5E3182CF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621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118085-F2E3-4C6A-A9DD-D89873CD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38350"/>
            <a:ext cx="422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 badge: PendingPayment → Confirmed → Ticketed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EDCCC9-465F-4C84-829E-0237BD01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621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BB1D32-5F5A-4702-83C8-D4EA3664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38350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EC7930-2B83-4F1D-957E-1FB44777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70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SC-02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9D7F59-B17F-491A-A4B6-9F1B16A1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193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DCFAC2-3A25-43C7-A50B-A5E079B2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4955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Add legroom on seat screen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B30492-0E76-4889-BCB3-43AF8ED2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193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FCADA0-EB9F-4C09-AE5C-67C9999E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95550"/>
            <a:ext cx="422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320,000 + 32,000 + 50,000 = 402,000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F0E3F7-4E39-43CD-9DD8-6B4F9223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B5C346-326F-4E92-A025-A3155E7F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495550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Decorator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A277FC-84FB-497E-BCFE-E38878FF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70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SC-03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1CA3B2-D0BF-4FE6-924A-69F733A3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765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6A95CD-AE9B-4CB3-88CF-E440A654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527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 payment method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D6B3D0-AC75-4D25-BB0C-605E7403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765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BB2066-38D2-4633-813E-D68FB50B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422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Matching processor selected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ABEC16-51FD-4F99-A089-4B9D7A27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765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646A9A-2501-4054-95E1-722B0B74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52750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 Method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EF58D3-C757-41D8-AF17-114A7315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70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SC-04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61D854-78EB-48A3-9022-D2D11F5C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337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FABA38-F29B-4642-813C-5A92C26F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099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Toggle e-ticket format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8B49B5-0A2A-448C-BE66-CC017491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D504B8-C55D-45F6-9CED-FFF5BF11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09950"/>
            <a:ext cx="422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Same data rendered text/boarding pass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6317A5-50E3-4368-BA8F-5AAACFD2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7231B88-71DB-4862-9E05-A02DEE8E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09950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Template Method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3B3454-EC23-40DD-A1EE-B01F3DA5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70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SC-05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E3438F-4B4F-4134-BB8B-670B2CA5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909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1860C4-ADB3-4BA7-A574-4223257F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671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 font in Settings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66EAB3-CCA9-4C8E-80D9-420568FC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909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179715-F73E-4C0E-AAFE-D1E2BD90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67150"/>
            <a:ext cx="422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All screens re-render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7A670D2-9080-4D1F-A9C1-19F2ACBD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909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169462-0EA2-4CE9-8973-941A0FA2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67150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Singleton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63D0CFE-0DDE-4B7E-94BC-DD804BB6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704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SC-06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199BD2-8EA7-40F0-963F-1EFC1BBD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481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972F7D0-B97C-417B-A822-1259DF55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24350"/>
            <a:ext cx="2705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Select shuttle city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951797-DC10-47E1-A868-7948C961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481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4D22883-271D-43E2-AC7E-C49DB934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324350"/>
            <a:ext cx="422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Bus ticket auto-issued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B930BC1-012A-43DC-842A-676A835E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4815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654A22C-601D-471B-8D80-F90DDAE6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24350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7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Observer</a:t>
            </a:r>
          </a:p>
        </p:txBody>
      </p:sp>
    </p:spTree>
    <p:extLst>
      <p:ext uri="{BB962C8B-B14F-4D97-AF65-F5344CB8AC3E}">
        <p14:creationId xmlns:p14="http://schemas.microsoft.com/office/powerpoint/2010/main" val="743574682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DE241A-2D75-48E3-8210-CFE9F546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7B480-6612-4C73-8C0E-A97410D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LIVE EXPLANATION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F57D6E-D10D-4254-8766-3868E8B6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 Guide + VS Code 시연 방법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A715C-BB86-4D0B-AABA-B6C0C32D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앱 안의 Pattern Guide를 목차처럼 사용하고, VS Code에서는 같은 클래스명을 Ctrl+F로 연다.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E4770-057F-4102-8AAA-3A073B98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E8FE3-7299-4BB4-A4FF-908D6FC5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44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9C9C9-0562-4993-8AC8-CFF0C197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2286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00A8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756B-8D08-4FFF-8BB1-9770A889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00A8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A27CA-27D3-45F3-A0F5-487C7DE1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859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Pattern Guide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F9E89-9D74-42F7-9EC4-5DD53B75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GoF role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Team class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method/attribute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87782B-7286-4441-A5E2-52728C1A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228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8002C-E103-4D97-A360-4FD1BBEE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95575"/>
            <a:ext cx="20955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설명 순서 고정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686EBA-B7A4-4597-95EA-B005B32F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2286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7DF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C85484-8326-4647-834A-A976FCDB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2F7DF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A92CB-F7F1-4ADC-A4BD-DF4DD944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859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VS Code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C7A31-D4C1-4267-B15B-CF0A0E08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907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Ctrl+F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DE7C7E-6ED3-4386-8C5D-54CF4C08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28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66CBA-63B5-4930-AF56-7C8191DB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28875"/>
            <a:ext cx="20955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AirportLocation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AppConfig</a:t>
            </a:r>
          </a:p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PaymentMethodProcessor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94E52F-EC1E-4C2A-B187-BAFB97D2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09750"/>
            <a:ext cx="2286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D1E67B-CCCE-45DB-86A3-82887039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097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93484-58C3-4DAB-88D0-21C4E45B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85950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23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DA0E17-46BF-4555-BDD3-EFF2E2A2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90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[STATE]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[BUS]</a:t>
            </a:r>
          </a:p>
          <a:p xmlns:a="http://schemas.openxmlformats.org/drawingml/2006/main">
            <a:pPr algn="l">
              <a:defRPr sz="728" b="0">
                <a:solidFill>
                  <a:srgbClr val="667085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667085"/>
                </a:solidFill>
                <a:latin typeface="SF Mono"/>
                <a:ea typeface="SF Mono"/>
                <a:cs typeface="SF Mono"/>
              </a:rPr>
              <a:t>[REFUND]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10D73-2485-44C7-B0BF-BB9D1105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47950"/>
            <a:ext cx="228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D05288-2CB1-433F-95AE-28A39705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695575"/>
            <a:ext cx="20955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8" b="0">
                <a:solidFill>
                  <a:srgbClr val="15182B"/>
                </a:solidFill>
                <a:latin typeface="SF Mono"/>
                <a:ea typeface="SF Mono"/>
                <a:cs typeface="SF Mono"/>
              </a:defRPr>
            </a:pPr>
            <a:r>
              <a:rPr sz="728" b="0">
                <a:solidFill>
                  <a:srgbClr val="15182B"/>
                </a:solidFill>
                <a:latin typeface="SF Mono"/>
                <a:ea typeface="SF Mono"/>
                <a:cs typeface="SF Mono"/>
              </a:rPr>
              <a:t>실행 증거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55744C-AC19-439B-B380-B524F111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33625"/>
            <a:ext cx="177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3"/>
          </a:solidFill>
          <a:ln xmlns:a="http://schemas.openxmlformats.org/drawingml/2006/main" w="0">
            <a:solidFill>
              <a:srgbClr val="00A87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65A695-3989-4884-9D9D-85202DC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1907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58377D-18C9-475D-AA89-14D3AB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133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00A873"/>
                </a:solidFill>
                <a:latin typeface="Apple SD Gothic Neo"/>
                <a:ea typeface="Apple SD Gothic Neo"/>
                <a:cs typeface="Apple SD Gothic Neo"/>
              </a:rPr>
              <a:t>find class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E61CA7-397B-4196-A560-2943DCCA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33625"/>
            <a:ext cx="1752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38D6A6-D883-424E-9DAD-3983E9B1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1907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4825C4-B3B5-4F69-8C4A-A7550A70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336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3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run demo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9C9497-6CFC-41E3-840A-6F7AF5E1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00500"/>
            <a:ext cx="81915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51670F-702F-4E74-81E2-A6FF0075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0050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64E777-D838-463B-91D5-FDBE0E5D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순서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1F124D-477B-48F0-8FEB-D2D87D71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0005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E3D836-20E4-40E3-B064-DE31A477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76700"/>
            <a:ext cx="594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멘트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B9F8C6-89B4-4289-B11F-8C4E2B82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33900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0554A8-BB47-40A6-B235-ED74DD35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577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FF4A31-9E70-4BCE-9C1C-9EBCC5FC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533900"/>
            <a:ext cx="594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먼저 Pattern Guide에서 GoF 역할과 우리 클래스 대응을 보여준다.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1B173D-17AD-4380-8E17-2F60D12F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91100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8DDCCD-BD45-435A-B9B0-8ABC039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9149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C1D1AA-C6F8-43D5-9468-BB66B80F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91100"/>
            <a:ext cx="594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VS Code에서 같은 클래스명을 열어 실제 method/attribute를 확인한다.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3EA263-A895-4254-9248-2CCF3EFE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448300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3273C9D-880F-4EC0-86C3-A3652F59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372100"/>
            <a:ext cx="9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F2032D-A9C9-4A50-BAF0-DCA3345E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448300"/>
            <a:ext cx="594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앱에서 버튼/선택을 누르고 터미널 로그나 화면 변화로 증명한다.</a:t>
            </a:r>
          </a:p>
        </p:txBody>
      </p:sp>
    </p:spTree>
    <p:extLst>
      <p:ext uri="{BB962C8B-B14F-4D97-AF65-F5344CB8AC3E}">
        <p14:creationId xmlns:p14="http://schemas.microsoft.com/office/powerpoint/2010/main" val="221990319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938EB3-5E5C-4C0E-A5AA-E885758A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DAB5E9-5247-4254-A88A-032CBE8A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QA / 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5793-A308-4665-B817-A5711B96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10 Quality Assurance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1635A-A6BA-4082-80DA-454DF5CF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문서에 있는 QA 항목과 실제 발표에서 말할 검증 근거.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4EFB5-E2EE-4C1B-86DE-A7208EED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129A0-34F7-48D5-B93E-B06D4AB0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45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B6D47-BCE0-44F4-B85F-75CAB4A6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477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D5307-1BCD-4F8E-B6BD-DE0105CB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47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D8ABF-564F-4713-849C-A97C6912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Severity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9B2B61-18F9-41EE-8090-1CC84B8E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5049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FB9402-073A-4DEE-BE90-C4202645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581150"/>
            <a:ext cx="432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Issue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94B0F-9BE9-43CC-B2FA-EDB8F66E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049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25A75-1FE0-4479-836B-CC387C54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461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Fix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D51A6-E207-440E-9B77-A6E7560B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HIGH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6A6D56-D5E3-4F39-AE2C-7DBCACDF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9240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2A8E6-A94C-4625-8635-3E27D332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00250"/>
            <a:ext cx="432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Double refund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14E9E-C31D-485D-A71F-E694BCC8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240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4724FE-676D-4E3C-B746-EA411369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00250"/>
            <a:ext cx="461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Separated immediate cancel from manual review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022E23-290E-4C50-881F-16F68377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HIGH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B87F9-0855-479C-83EE-E3ADFFE0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3431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0F9B0-0B8F-41E8-81E8-1E3A282A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419350"/>
            <a:ext cx="432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Fare hardcoded for every reservation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284088-8B72-427E-8ACB-53611EAB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431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A7FBD-3572-4F4A-A9BC-6593BEB5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19350"/>
            <a:ext cx="461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Scaled fare and tax by itinerary segment count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617503-DAB3-4397-8041-4263B59B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3845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HIGH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257010-1A40-4F55-9A4D-5603ED71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7622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3950D0-CBC2-45AC-8F96-F71311AD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838450"/>
            <a:ext cx="432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setPassengerInfo re-called on back navigation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4F8FB8-B6F6-4A8F-87D8-1671D5C6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622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42833C-5B18-4B51-AE65-5E8B09EF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38450"/>
            <a:ext cx="461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Caught invalid transition and proceeded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33A444-29F2-4997-81B8-FF251300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5755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HIGH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00A380-4692-483B-8E68-E32D9936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1813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33553D-FC60-4594-84DD-CCB3E0F9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57550"/>
            <a:ext cx="432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Approve double-refunded via processCancellation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0B7A87-1E6A-4506-9E16-250E9855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813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193424-4CB3-4B72-9F49-B7937CE4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461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Approve uses explicit transitions + single processRefund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113AE8-C850-4049-988D-D3847424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76BCB8-1932-4211-ABFA-67E3C8E5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004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AD0040-1645-474A-8E41-726C42AA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76650"/>
            <a:ext cx="432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Connecting flight booked as multi-city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8A27CA-5669-486E-B51C-C8D1AC15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BD5140-0E44-4D0A-9DED-0B7E844F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76650"/>
            <a:ext cx="461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Added ConnectingItineraryFactory path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2107B0-A03B-4BF3-845E-6BA16363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MED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3C24EB-FE97-4659-B0FB-852A4359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0195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8F2129-1C38-4A96-BE6B-6F87B936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95750"/>
            <a:ext cx="432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Skypass number not incremented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24F3FE-147D-424A-ACB0-47D8FB2F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19550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CC8308-9456-4D5D-BDBE-C2A280A2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95750"/>
            <a:ext cx="4610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8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Post-increment member sequence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3C416A-16FB-4E01-AEEE-5C3D7F7B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781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4D3AF48-04F2-47C1-8B32-62CA697A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3"/>
          </a:solidFill>
          <a:ln xmlns:a="http://schemas.openxmlformats.org/drawingml/2006/main" w="0">
            <a:solidFill>
              <a:srgbClr val="00A87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4FC6F7-CF08-4BB8-9FD5-D6225706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105400"/>
            <a:ext cx="746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검증 문장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0DABBE-CEF2-40D7-A8F4-78C13D69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0200"/>
            <a:ext cx="7467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AI code review 5회, Maven compile, 13 FXML runtime load, 수동 booking flow 검증을 근거로 말한다.</a:t>
            </a:r>
          </a:p>
        </p:txBody>
      </p:sp>
    </p:spTree>
    <p:extLst>
      <p:ext uri="{BB962C8B-B14F-4D97-AF65-F5344CB8AC3E}">
        <p14:creationId xmlns:p14="http://schemas.microsoft.com/office/powerpoint/2010/main" val="1766446223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EC8B3D-0552-4EA7-B8B1-99883C59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A6399-9194-412C-8C13-ED87DFD4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KNOWN LIMITS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EFE44B-445C-4914-BB02-CDE7FB86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Section 11 Intentional Limits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17D26-CFDC-432D-8460-7A820001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못 만든 것을 숨기지 않고 범위 밖/후속 과제로 명확히 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E3436-EA04-44E5-81C6-4FE8FF34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9A5384-E84B-4EE5-A498-A9534300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46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B3499-0BC3-4D9A-8B13-12F54AED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19250"/>
            <a:ext cx="8572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FA77B-E7D4-4735-ADF7-F8EEFF70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1925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D9BEC-8725-4DB4-820A-3B546580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95450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Limit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D1DC2A-D72B-4F06-8781-CEA87885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6ACF0-1D2A-4E97-A8BF-8436CB9A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95450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Reason / wording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CB7EB5-265E-463A-BD51-BA218E51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47900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Admin console not built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7F6DC-AC1C-4386-AD24-F22BA1A6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71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FCDE65-ECD1-4F61-ABFF-8F2446DF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authenticateAdmin, changeFlightStatus, createSchedule are backend stubs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D0AEBE-96EC-458E-86E1-DD88FDDE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00350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Single adult, economy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9BEC5B-2FFE-42C9-B9F9-EB929B51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24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49CB5F-3659-4769-A2C1-24922800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00350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Booking flow is fixed to one adult, economy fare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991E2B-55E8-4403-A3F1-D5E170CB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52800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 not shown on e-ticket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A042B1-B940-4A8F-A848-578CA87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76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D53F5F-7EA5-48A0-BDFD-D38419DE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52800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Seat reserved in inventory but ticket body link remains domain limitation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08237B-0F88-481A-8A46-FE694BF6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05250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Real external systems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6E3BBF-6800-4149-8081-EFF57BF9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29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74D204-47F4-4C6E-A8E5-F42382A3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6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Skypass and payment are represented through Adapter/Gateway boundaries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610F4-C7D4-4DEA-959D-B05A64D6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38750"/>
            <a:ext cx="7239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8B1F86-4354-48BE-81F5-2DE7748B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387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9B00"/>
          </a:solidFill>
          <a:ln xmlns:a="http://schemas.openxmlformats.org/drawingml/2006/main" w="0">
            <a:solidFill>
              <a:srgbClr val="E99B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5FF873-66B3-4C7F-A4D4-C52BCF2F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689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8D0976-CAB0-4E35-A5F1-CFE2FBBA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695950"/>
            <a:ext cx="689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한계는 실패가 아니라 설계 경계다. Adapter/Factory/Template이 후속 확장을 받을 수 있게 열어두었다고 설명한다.</a:t>
            </a:r>
          </a:p>
        </p:txBody>
      </p:sp>
    </p:spTree>
    <p:extLst>
      <p:ext uri="{BB962C8B-B14F-4D97-AF65-F5344CB8AC3E}">
        <p14:creationId xmlns:p14="http://schemas.microsoft.com/office/powerpoint/2010/main" val="1328477782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985F1D-A78B-47AA-B9D7-66FDDF19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4AB88-5AEF-42A3-B622-B572B729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LIVE DEMO ORDER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B676E-DE1E-4C3F-AD7E-0A2E9AF9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Final Demo Runbook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9AF77-A307-44B2-99B8-53A39B2E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시간이 부족해도 이 순서면 9개 DP가 모두 지나간다.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D188E8-06E1-4641-BB0E-2B95238D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11AA3D-4F96-441F-9384-91DE28AF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47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D8D2E-1B7A-4E65-823C-C4C4AB0E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048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F9D91-5568-4A15-9BA9-8E387EF9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F56E78-98F3-4862-966F-6CC276EA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1. 검색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86481-DFEA-4B73-8A38-C9633EE4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TYO/SEL 도시 코드</a:t>
            </a:r>
          </a:p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설명 DP: Composite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26C11-034C-416D-94D3-98558894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19250"/>
            <a:ext cx="3048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5E8DF-808D-4850-8EF4-14B7BBC9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192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2042A6-6DC2-49E6-AAC5-9EB9762A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7165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2. 좌석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4B374D-34AC-4492-9C12-B9C3F4EF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76450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A/F + legroom/lounge</a:t>
            </a:r>
          </a:p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설명 DP: Decorator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766C8-271D-4383-BE71-F3498544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C5B57F-931E-483C-8FF9-62566D63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EB8"/>
          </a:solidFill>
          <a:ln xmlns:a="http://schemas.openxmlformats.org/drawingml/2006/main" w="0">
            <a:solidFill>
              <a:srgbClr val="005E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A08C31-47ED-4ED2-A43A-16F520D8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7165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3. 결제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B1E17C-88AE-432B-BC2C-24C08E9F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76450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KakaoPay/Mileage</a:t>
            </a:r>
          </a:p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설명 DP: Factory + Adapter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29DF5-3478-4847-930E-31C0B24E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048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1FAF7D-4B91-4BE2-AE89-33706437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F1D06D-45FC-46FB-A23F-3457353C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4. 확정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8B900C-E816-4BA5-BC1B-DAC204BA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e-Ticket + bus city</a:t>
            </a:r>
          </a:p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설명 DP: Template + Observer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299279-954E-4087-922D-E2F9264A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48000"/>
            <a:ext cx="3048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378A20-2B5D-4BFB-A071-9E262C3D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4800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264DA8-FFF2-47DC-AFDF-6177FC0C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0040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5. 조회/환불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164F71-4E27-47A5-8FCE-6A562298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05200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cancel/refund review</a:t>
            </a:r>
          </a:p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설명 DP: State + Strategy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487009-F703-48D8-9359-C7DB45A6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3048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DB3E26-2216-4EAA-86D3-2667B279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0">
            <a:solidFill>
              <a:srgbClr val="C000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933767-17CE-4D1F-AA60-83200626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0040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6. 설정/가이드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618FC2-BE6D-4DC2-A0D5-105CE379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05200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font + Pattern Guide</a:t>
            </a:r>
          </a:p>
          <a:p xmlns:a="http://schemas.openxmlformats.org/drawingml/2006/main">
            <a:pPr algn="l">
              <a:def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설명 DP: Singleton + recap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EEFE5E-9393-4A38-BCFB-B08E3812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09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9FB021-D017-4B24-BBD8-46D3131A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314950"/>
            <a:ext cx="78105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1">
                <a:solidFill>
                  <a:srgbClr val="93B7FF"/>
                </a:solidFill>
                <a:latin typeface="Apple SD Gothic Neo"/>
                <a:ea typeface="Apple SD Gothic Neo"/>
                <a:cs typeface="Apple SD Gothic Neo"/>
              </a:rPr>
              <a:t>터미널 로그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B7206C-1DB8-49D0-BF64-B7306D21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534025"/>
            <a:ext cx="781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97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[STATE] Initiated -&gt; PendingPayment</a:t>
            </a:r>
          </a:p>
          <a:p xmlns:a="http://schemas.openxmlformats.org/drawingml/2006/main">
            <a:pPr algn="l">
              <a:defRPr sz="97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97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[STATE] PendingPayment -&gt; Confirmed</a:t>
            </a:r>
          </a:p>
          <a:p xmlns:a="http://schemas.openxmlformats.org/drawingml/2006/main">
            <a:pPr algn="l">
              <a:defRPr sz="97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97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[BUS] premium bus ticket issued</a:t>
            </a:r>
          </a:p>
          <a:p xmlns:a="http://schemas.openxmlformats.org/drawingml/2006/main">
            <a:pPr algn="l">
              <a:defRPr sz="975" b="0">
                <a:solidFill>
                  <a:srgbClr val="F5F7FB"/>
                </a:solidFill>
                <a:latin typeface="SF Mono"/>
                <a:ea typeface="SF Mono"/>
                <a:cs typeface="SF Mono"/>
              </a:defRPr>
            </a:pPr>
            <a:r>
              <a:rPr sz="975" b="0">
                <a:solidFill>
                  <a:srgbClr val="F5F7FB"/>
                </a:solidFill>
                <a:latin typeface="SF Mono"/>
                <a:ea typeface="SF Mono"/>
                <a:cs typeface="SF Mono"/>
              </a:rPr>
              <a:t>[REFUND] policy=Partial amount=...</a:t>
            </a:r>
          </a:p>
        </p:txBody>
      </p:sp>
    </p:spTree>
    <p:extLst>
      <p:ext uri="{BB962C8B-B14F-4D97-AF65-F5344CB8AC3E}">
        <p14:creationId xmlns:p14="http://schemas.microsoft.com/office/powerpoint/2010/main" val="1235799775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177122-F859-4A1D-8570-DFDCB062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F8A33-455F-43A0-9E5B-29F8836B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RED CHANGE MARKERS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1D139-81E1-4152-AF22-3202DB59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Iteration 4 최종 변경사항 — 빨간색 표시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A40F6-0EC4-4103-841A-167BE130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보고서/발표에서 빨간색으로 짚을 항목.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6BE1F-FEB6-4954-B14D-8E9B9544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56068-A195-4FEB-A7BE-A6ABE8FF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48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21EA8-BB30-4836-9CF5-2ABE6FD4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0020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C8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B4686-6D30-4E79-A1AE-2DD17D89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034B06-B17A-44D5-BA00-9DDA4B6B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145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Swing Boundary를 JavaFX(FXML + CSS + Controller)로 교체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A0540-6918-47D0-89D2-2372CD4A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2410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A"/>
          </a:solidFill>
          <a:ln xmlns:a="http://schemas.openxmlformats.org/drawingml/2006/main" w="9525">
            <a:solidFill>
              <a:srgbClr val="FFC8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C8368-2562-4483-9421-AE8A5694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D99F3C-2FCF-4A68-B026-7213BEBC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4384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Composite, Singleton, Factory Method, Template Method, Adapter, Decorator 6개 GoF 패턴 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784964-656C-4FCD-AFF0-EBCD95E0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C8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2A07D-5BB3-48C3-B630-DE61DDF8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194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60962-7B35-42D0-B3CD-577AB7E8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623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Iteration 1~4 누적 기준 9개 패턴이 모두 UI에서 시연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D4169C-6A93-4E63-9795-5D449FB0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A"/>
          </a:solidFill>
          <a:ln xmlns:a="http://schemas.openxmlformats.org/drawingml/2006/main" w="9525">
            <a:solidFill>
              <a:srgbClr val="FFC8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2EF201-F98F-42B2-958B-D1967D35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6B7D43-E0C4-486A-8811-FF9764B5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862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Pattern Guide 화면으로 GoF 역할, 팀 클래스, method/attribute, skeleton, demo point를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749022-1F37-4687-BAED-481913CE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9580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C8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31D05F-298B-479C-98D9-AAE85B0F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982C50-E087-4EDE-8E18-F7AB5C84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101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1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결제=Factory/Adapter, 좌석=Decorator, 확인=Template/Observer, 설정=Singleton으로 화면 연결</a:t>
            </a:r>
          </a:p>
        </p:txBody>
      </p:sp>
    </p:spTree>
    <p:extLst>
      <p:ext uri="{BB962C8B-B14F-4D97-AF65-F5344CB8AC3E}">
        <p14:creationId xmlns:p14="http://schemas.microsoft.com/office/powerpoint/2010/main" val="888354404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0AE8D2-2B10-4C7B-A9E9-3064206C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F6F8F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E5A9E-43D8-4D5E-9AC4-3F6F1391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05EB8"/>
                </a:solidFill>
                <a:latin typeface="Apple SD Gothic Neo"/>
                <a:ea typeface="Apple SD Gothic Neo"/>
                <a:cs typeface="Apple SD Gothic Neo"/>
              </a:rPr>
              <a:t>PRESENTATION 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AA091-21B4-4CC5-B10E-E56E1CE4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교수님 질문 대응 포인트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4CCEC-3E86-4D38-93C5-8E4A3978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6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틀리기 쉬운 부분을 먼저 인정하고, 코드 기준으로 답할 문장을 준비한다.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273E8-972A-422F-8664-DC276EF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552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Team A · KoreanAirReservationDomain · OODP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846C4-6702-4BD6-BD41-A49A0718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49 /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B347C-22EA-45C0-81FE-C2B9068A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477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D7F12B-C941-48C2-9C9F-7BDCF4F5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FA1CF-3C99-4754-9891-02372EBC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질문 가능 지점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E4A8C0-7806-4E11-9163-27CE8B46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504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B1B285-544A-4017-BD48-B62239FD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5811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짧은 답변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7CC69-12BB-4633-81A0-6349301D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04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1C2C69-4D82-4D04-8789-788CA6AF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581150"/>
            <a:ext cx="3276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근거 코드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C7D5F-A828-4249-A68E-E7D550C2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Factory Method가 맞나?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DEA988-3F18-4EFE-A9A5-0C8DB0B9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057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BBD6D-B83F-41D6-9881-3AEE1B1F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13360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Payment는 PaymentMethodProcessor.createPayment(), Itinerary는 ItineraryFactory.createItinerary()가 핵심 factory method입니다. PaymentProcessorFactory는 선택 helper입니다.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238551-C004-4B83-85E9-1B261141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57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FE92FE-2EE7-4599-BBF7-2CE29D66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3276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PaymentMethodProcessor.java / ItineraryFactory.java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6227C9-DBEB-47ED-822D-67652FE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State에 abstract class가 있나?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8BED31-32AA-4279-9C8A-98821B7C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09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EB271C-A7A0-4C49-A1E5-0C52A6DD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860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네. ReservationState interface 위에 AbstractReservationState가 기본 거부 동작을 제공해 중복을 줄입니다.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F6615C-6DB9-4C13-800F-E43A31A4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40745D-8993-4B55-9E40-B3FE7ADA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76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ReservationState.java / AbstractReservationState.java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8FB721-B2F5-416E-B972-D8F3F7EA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UI 전환 때 Domain이 완전히 무변경인가?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394415-3EEB-4FDE-9CB5-43ACA359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62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297398-8EB5-47B2-964F-F7C7A9E3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3850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절대 표현은 피하고, Boundary 중심 전환이며 Control/Domain의 핵심 패턴 구조를 보존했다고 말합니다.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B56150-3D13-4B0A-8EF4-A6FAC427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62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E3439B-EFBC-40AB-A421-5DF4E0C4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38500"/>
            <a:ext cx="3276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C00000"/>
                </a:solidFill>
                <a:latin typeface="Apple SD Gothic Neo"/>
                <a:ea typeface="Apple SD Gothic Neo"/>
                <a:cs typeface="Apple SD Gothic Neo"/>
              </a:rPr>
              <a:t>app.fx package / BookingController glue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77637C-6191-4AF1-8CAD-42A9FCFF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패턴이 앱에서 실제 호출되나?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7254E6-3871-45F8-BDF4-64B6F851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147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50E294-17B4-4B8A-882B-147C928F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검색, 좌석, 결제, 확정, 조회, 설정, Pattern Guide에서 각각 호출됩니다.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62D987-4BC6-46C1-A6C9-FF5DE320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147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C"/>
          </a:solidFill>
          <a:ln xmlns:a="http://schemas.openxmlformats.org/drawingml/2006/main" w="0">
            <a:solidFill>
              <a:srgbClr val="D8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62B2ED-3CA7-4EE5-904C-8DE8D151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90950"/>
            <a:ext cx="3276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40" b="0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Search/Seat/Payment/Confirmation/Settings controllers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CFD9C1-3E79-4AE0-9F7B-2933D0A4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388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5301A4-4A77-4C1C-AEEC-656F5045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38800"/>
            <a:ext cx="4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3"/>
          </a:solidFill>
          <a:ln xmlns:a="http://schemas.openxmlformats.org/drawingml/2006/main" w="0">
            <a:solidFill>
              <a:srgbClr val="00A87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002147-391A-4A39-A448-DEDF0B95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791200"/>
            <a:ext cx="7467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5182B"/>
                </a:solidFill>
                <a:latin typeface="Apple SD Gothic Neo"/>
                <a:ea typeface="Apple SD Gothic Neo"/>
                <a:cs typeface="Apple SD Gothic Neo"/>
              </a:rPr>
              <a:t>발표 태도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B590BB-6C60-4378-9407-67FAF991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096000"/>
            <a:ext cx="7467600" cy="-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문서 문장을 외우기보다 실제 코드 클래스와 메서드로 설명한다. 애매한 용어는 'helper', 'Creator', 'ConcreteCreator'처럼 구분해서 말한다.</a:t>
            </a:r>
          </a:p>
        </p:txBody>
      </p:sp>
    </p:spTree>
    <p:extLst>
      <p:ext uri="{BB962C8B-B14F-4D97-AF65-F5344CB8AC3E}">
        <p14:creationId xmlns:p14="http://schemas.microsoft.com/office/powerpoint/2010/main" val="558044343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7DD27E-70CC-4514-AAEE-688789AA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36"/>
          </a:solidFill>
          <a:ln xmlns:a="http://schemas.openxmlformats.org/drawingml/2006/main" w="0">
            <a:solidFill>
              <a:srgbClr val="0B17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2CEB1-5B49-4A8D-923F-9DA3839D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DB8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8DB8FF"/>
                </a:solidFill>
                <a:latin typeface="Apple SD Gothic Neo"/>
                <a:ea typeface="Apple SD Gothic Neo"/>
                <a:cs typeface="Apple SD Gothic Neo"/>
              </a:rPr>
              <a:t>KOREAN AIR RESERVATION · TEAM 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C9D79-887E-49A7-8F12-72663FFE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38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87902-6C14-4335-A9CD-2E610D0F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BE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DBE7FF"/>
                </a:solidFill>
                <a:latin typeface="Apple SD Gothic Neo"/>
                <a:ea typeface="Apple SD Gothic Neo"/>
                <a:cs typeface="Apple SD Gothic Neo"/>
              </a:rPr>
              <a:t>Iteration 4 Final · JavaFX + 9 Design Patterns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487BD-4650-4B93-BD8D-4724A357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85900"/>
            <a:ext cx="3429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059"/>
            </a:srgbClr>
          </a:solidFill>
          <a:ln xmlns:a="http://schemas.openxmlformats.org/drawingml/2006/main" w="9525">
            <a:solidFill>
              <a:srgbClr val="49689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26E2D-4E31-4F45-A651-99460ACC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85900"/>
            <a:ext cx="47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F6"/>
          </a:solidFill>
          <a:ln xmlns:a="http://schemas.openxmlformats.org/drawingml/2006/main" w="0">
            <a:solidFill>
              <a:srgbClr val="2F7DF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56BE15-7EAB-4500-8A7E-EE881885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38300"/>
            <a:ext cx="308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BE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DBE7FF"/>
                </a:solidFill>
                <a:latin typeface="Apple SD Gothic Neo"/>
                <a:ea typeface="Apple SD Gothic Neo"/>
                <a:cs typeface="Apple SD Gothic Neo"/>
              </a:rPr>
              <a:t>핵심 결론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58176-74BB-454D-A21A-31B7F86E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43100"/>
            <a:ext cx="30861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기능이 늘어날수록 if문으로 버티는 대신,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변화 축마다 GoF 패턴으로 책임을 분리했다.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State · Strategy · Observer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Composite · Singleton · Factory Method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Template Method · Adapter · Decorator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1B4B69-D0CC-4EE6-BC85-CC03D4EA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Questions?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B9A542-804D-41E1-94C3-E49730A3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5" b="0">
                <a:solidFill>
                  <a:srgbClr val="9AA4B2"/>
                </a:solidFill>
                <a:latin typeface="Apple SD Gothic Neo"/>
                <a:ea typeface="Apple SD Gothic Neo"/>
                <a:cs typeface="Apple SD Gothic Neo"/>
              </a:rPr>
              <a:t>50 / 50</a:t>
            </a:r>
          </a:p>
        </p:txBody>
      </p:sp>
    </p:spTree>
    <p:extLst>
      <p:ext uri="{BB962C8B-B14F-4D97-AF65-F5344CB8AC3E}">
        <p14:creationId xmlns:p14="http://schemas.microsoft.com/office/powerpoint/2010/main" val="1141094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2026-05-31T16:06:05.0630000Z</dcterms:created>
  <dcterms:modified xsi:type="dcterms:W3CDTF">2026-05-31T16:06:05.0630000Z</dcterms:modified>
</coreProperties>
</file>